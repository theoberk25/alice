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rule an autonomous agent follows today lives in the cloud: policy servers, SIEM, EDR, oversight dashboards. For defense and critical infrastructure, disconnected, degraded, intermittent, or limited connectivity is not an edge case. It is the expected operating environment. So the question we started with: when the cloud goes dark, who governs your agents?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Agents are not a future problem. They already triage alerts, respond to incidents, and act on physical systems, on the same local networks that run critical infrastructure. They do not just watch; some of them flip switches.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hidden assumption. Every rule those agents follow lives in the cloud. Policy servers, SIEM, EDR, human oversight dashboards. The entire governance layer assumes one thing: a live connection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03:14. The base loses connectivity. No SIEM, no policy server, no oversight reaches the local network anymore. And the agents on it do not stop. They keep acting.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Temperature climbs in a facility bay. The cooling agent does exactly what it learned: three separate plus-ten-percent fan requests, spaced out, each one individually unremarkable. DCAMR evaluates each one and returns allow, allow, allow. This is the learned normal pattern.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Then the rising fan speed pushes power draw over a threshold, and a different agent, one that is fully authorized to control the fan, requests a full shutdown. While the room is still overheating. Nothing about this request breaks a rule. The danger is in what normal was, not in what is technically allowed.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DCAMR. A local behavioral baseline running on the same disconnected network, scoring every request against the pattern the system has actually been showing. The abrupt shutdown scores as anomalous against three small measured steps and a still-rising temperature. Not a policy violation, so not a deny: a hold, escalated to a human. And everything you just saw happens with the network still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hold goes to a technician, identity-verified through ALICE. They see the flagged request, the temperature trend, and the last three approvals side by side, and decide in seconds: reject, it is still too hot to cut the fan. The fan stays at its last approved level, and the whole exchange is signed and recorded locally, while the network is still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connectivity returns, the queued records upload to the SIEM without duplication, and verified cloud evidence appends to the log. Nothing is rewritten. The blackout leaves a complete, tamper-evident record instead of a blind spot. That is the audit story: continuity of logging and review even when the SIEM is unreachable, and clean reconciliation when it comes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Front's Game Warden accredits containerized, offline-capable services. DCAMR is architected exactly that way from the start: local-first, zero cloud dependency in its core decision loop. It is not retrofitted for the disconnected environment; it is built for the environment defense actually operates in. We are running the whole sequence live at our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EDIT">
    <p:bg>
      <p:bgPr>
        <a:solidFill>
          <a:srgbClr val="0B0B0A"/>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85800" y="292608"/>
            <a:ext cx="5029200" cy="274320"/>
          </a:xfrm>
          <a:prstGeom prst="rect">
            <a:avLst/>
          </a:prstGeom>
          <a:noFill/>
          <a:ln/>
        </p:spPr>
        <p:txBody>
          <a:bodyPr wrap="square" lIns="0" tIns="0" rIns="0" bIns="0" rtlCol="0" anchor="ctr"/>
          <a:lstStyle/>
          <a:p>
            <a:pPr indent="0" marL="0">
              <a:buNone/>
            </a:pPr>
            <a:r>
              <a:rPr lang="en-US" sz="850" spc="200" kern="0" dirty="0">
                <a:solidFill>
                  <a:srgbClr val="55534F"/>
                </a:solidFill>
                <a:latin typeface="Courier New" pitchFamily="34" charset="0"/>
                <a:ea typeface="Courier New" pitchFamily="34" charset="-122"/>
                <a:cs typeface="Courier New" pitchFamily="34" charset="-120"/>
              </a:rPr>
              <a:t>DN HACKS '26  /  DEFENSE TRACK</a:t>
            </a:r>
            <a:endParaRPr lang="en-US" sz="850" dirty="0"/>
          </a:p>
        </p:txBody>
      </p:sp>
      <p:sp>
        <p:nvSpPr>
          <p:cNvPr id="3" name="Text 1"/>
          <p:cNvSpPr txBox="1"/>
          <p:nvPr/>
        </p:nvSpPr>
        <p:spPr>
          <a:xfrm>
            <a:off x="7848295" y="292608"/>
            <a:ext cx="3657600" cy="274320"/>
          </a:xfrm>
          <a:prstGeom prst="rect">
            <a:avLst/>
          </a:prstGeom>
          <a:noFill/>
          <a:ln/>
        </p:spPr>
        <p:txBody>
          <a:bodyPr wrap="square" lIns="0" tIns="0" rIns="0" bIns="0" rtlCol="0" anchor="ctr"/>
          <a:lstStyle/>
          <a:p>
            <a:pPr algn="r" indent="0" marL="0">
              <a:buNone/>
            </a:pPr>
            <a:r>
              <a:rPr lang="en-US" sz="850" spc="200" kern="0" dirty="0">
                <a:solidFill>
                  <a:srgbClr val="55534F"/>
                </a:solidFill>
                <a:latin typeface="Courier New" pitchFamily="34" charset="0"/>
                <a:ea typeface="Courier New" pitchFamily="34" charset="-122"/>
                <a:cs typeface="Courier New" pitchFamily="34" charset="-120"/>
              </a:rPr>
              <a:t>ALICE / DCAMR</a:t>
            </a:r>
            <a:endParaRPr lang="en-US" sz="850" dirty="0"/>
          </a:p>
        </p:txBody>
      </p:sp>
      <p:sp>
        <p:nvSpPr>
          <p:cNvPr id="4" name="Shape 2"/>
          <p:cNvSpPr/>
          <p:nvPr/>
        </p:nvSpPr>
        <p:spPr>
          <a:xfrm>
            <a:off x="685800" y="6382512"/>
            <a:ext cx="10820095" cy="10973"/>
          </a:xfrm>
          <a:prstGeom prst="rect">
            <a:avLst/>
          </a:prstGeom>
          <a:solidFill>
            <a:srgbClr val="232220"/>
          </a:solidFill>
          <a:ln/>
        </p:spPr>
      </p:sp>
      <p:sp>
        <p:nvSpPr>
          <p:cNvPr id="5" name="Text 3"/>
          <p:cNvSpPr txBox="1"/>
          <p:nvPr/>
        </p:nvSpPr>
        <p:spPr>
          <a:xfrm>
            <a:off x="685800" y="6473952"/>
            <a:ext cx="5486400" cy="274320"/>
          </a:xfrm>
          <a:prstGeom prst="rect">
            <a:avLst/>
          </a:prstGeom>
          <a:noFill/>
          <a:ln/>
        </p:spPr>
        <p:txBody>
          <a:bodyPr wrap="square" lIns="0" tIns="0" rIns="0" bIns="0" rtlCol="0" anchor="ctr"/>
          <a:lstStyle/>
          <a:p>
            <a:pPr indent="0" marL="0">
              <a:buNone/>
            </a:pPr>
            <a:r>
              <a:rPr lang="en-US" sz="750" spc="200" kern="0" dirty="0">
                <a:solidFill>
                  <a:srgbClr val="55534F"/>
                </a:solidFill>
                <a:latin typeface="Courier New" pitchFamily="34" charset="0"/>
                <a:ea typeface="Courier New" pitchFamily="34" charset="-122"/>
                <a:cs typeface="Courier New" pitchFamily="34" charset="-120"/>
              </a:rPr>
              <a:t>STATION DC  /  38.9072 N, 77.0369 W</a:t>
            </a:r>
            <a:endParaRPr lang="en-US" sz="750" dirty="0"/>
          </a:p>
        </p:txBody>
      </p:sp>
      <p:sp>
        <p:nvSpPr>
          <p:cNvPr id="6" name="Text 4"/>
          <p:cNvSpPr txBox="1"/>
          <p:nvPr/>
        </p:nvSpPr>
        <p:spPr>
          <a:xfrm>
            <a:off x="9677095" y="6473952"/>
            <a:ext cx="1828800" cy="274320"/>
          </a:xfrm>
          <a:prstGeom prst="rect">
            <a:avLst/>
          </a:prstGeom>
          <a:noFill/>
          <a:ln/>
        </p:spPr>
        <p:txBody>
          <a:bodyPr wrap="square" lIns="0" tIns="0" rIns="0" bIns="0" rtlCol="0" anchor="ctr"/>
          <a:lstStyle/>
          <a:p>
            <a:pPr algn="r" indent="0" marL="0">
              <a:buNone/>
            </a:pPr>
            <a:r>
              <a:rPr lang="en-US" sz="750" spc="200" kern="0" dirty="0">
                <a:solidFill>
                  <a:srgbClr val="55534F"/>
                </a:solidFill>
                <a:latin typeface="Courier New" pitchFamily="34" charset="0"/>
                <a:ea typeface="Courier New" pitchFamily="34" charset="-122"/>
                <a:cs typeface="Courier New" pitchFamily="34" charset="-120"/>
              </a:rPr>
              <a:t>01 / 10</a:t>
            </a:r>
            <a:endParaRPr lang="en-US" sz="750" dirty="0"/>
          </a:p>
        </p:txBody>
      </p:sp>
      <p:sp>
        <p:nvSpPr>
          <p:cNvPr id="7" name="Text 5"/>
          <p:cNvSpPr txBox="1"/>
          <p:nvPr/>
        </p:nvSpPr>
        <p:spPr>
          <a:xfrm>
            <a:off x="685800" y="1417320"/>
            <a:ext cx="10881360" cy="2834640"/>
          </a:xfrm>
          <a:prstGeom prst="rect">
            <a:avLst/>
          </a:prstGeom>
          <a:noFill/>
          <a:ln/>
        </p:spPr>
        <p:txBody>
          <a:bodyPr wrap="square" lIns="0" tIns="0" rIns="0" bIns="0" rtlCol="0" anchor="ctr"/>
          <a:lstStyle/>
          <a:p>
            <a:pPr indent="0" marL="0">
              <a:lnSpc>
                <a:spcPct val="98000"/>
              </a:lnSpc>
              <a:buNone/>
            </a:pPr>
            <a:r>
              <a:rPr lang="en-US" sz="7600" b="1" spc="-150" kern="0" dirty="0">
                <a:solidFill>
                  <a:srgbClr val="EDEAE4"/>
                </a:solidFill>
                <a:latin typeface="Arial" pitchFamily="34" charset="0"/>
                <a:ea typeface="Arial" pitchFamily="34" charset="-122"/>
                <a:cs typeface="Arial" pitchFamily="34" charset="-120"/>
              </a:rPr>
              <a:t>When the cloud</a:t>
            </a:r>
            <a:endParaRPr lang="en-US" sz="7600" dirty="0"/>
          </a:p>
          <a:p>
            <a:pPr indent="0" marL="0">
              <a:lnSpc>
                <a:spcPct val="98000"/>
              </a:lnSpc>
              <a:buNone/>
            </a:pPr>
            <a:r>
              <a:rPr lang="en-US" sz="7600" b="1" spc="-150" kern="0" dirty="0">
                <a:solidFill>
                  <a:srgbClr val="EDEAE4"/>
                </a:solidFill>
                <a:latin typeface="Arial" pitchFamily="34" charset="0"/>
                <a:ea typeface="Arial" pitchFamily="34" charset="-122"/>
                <a:cs typeface="Arial" pitchFamily="34" charset="-120"/>
              </a:rPr>
              <a:t>goes </a:t>
            </a:r>
            <a:pPr indent="0" marL="0">
              <a:lnSpc>
                <a:spcPct val="98000"/>
              </a:lnSpc>
              <a:buNone/>
            </a:pPr>
            <a:r>
              <a:rPr lang="en-US" sz="7600" b="1" i="1" spc="-150" kern="0" dirty="0">
                <a:solidFill>
                  <a:srgbClr val="FF4D00"/>
                </a:solidFill>
                <a:latin typeface="Arial" pitchFamily="34" charset="0"/>
                <a:ea typeface="Arial" pitchFamily="34" charset="-122"/>
                <a:cs typeface="Arial" pitchFamily="34" charset="-120"/>
              </a:rPr>
              <a:t>dark.</a:t>
            </a:r>
            <a:pPr indent="0" marL="0">
              <a:lnSpc>
                <a:spcPct val="98000"/>
              </a:lnSpc>
              <a:buNone/>
            </a:pPr>
            <a:r>
              <a:rPr lang="en-US" sz="1200" b="1" spc="300" kern="0" dirty="0">
                <a:solidFill>
                  <a:srgbClr val="55534F"/>
                </a:solidFill>
                <a:latin typeface="Courier New" pitchFamily="34" charset="0"/>
                <a:ea typeface="Courier New" pitchFamily="34" charset="-122"/>
                <a:cs typeface="Courier New" pitchFamily="34" charset="-120"/>
              </a:rPr>
              <a:t>  DDIL</a:t>
            </a:r>
            <a:endParaRPr lang="en-US" sz="7600" dirty="0"/>
          </a:p>
        </p:txBody>
      </p:sp>
      <p:sp>
        <p:nvSpPr>
          <p:cNvPr id="8" name="Text 6"/>
          <p:cNvSpPr txBox="1"/>
          <p:nvPr/>
        </p:nvSpPr>
        <p:spPr>
          <a:xfrm>
            <a:off x="685800" y="4892040"/>
            <a:ext cx="4754880" cy="731520"/>
          </a:xfrm>
          <a:prstGeom prst="rect">
            <a:avLst/>
          </a:prstGeom>
          <a:noFill/>
          <a:ln/>
        </p:spPr>
        <p:txBody>
          <a:bodyPr wrap="square" lIns="0" tIns="0" rIns="0" bIns="0" rtlCol="0" anchor="ctr"/>
          <a:lstStyle/>
          <a:p>
            <a:pPr indent="0" marL="0">
              <a:lnSpc>
                <a:spcPct val="150000"/>
              </a:lnSpc>
              <a:buNone/>
            </a:pPr>
            <a:r>
              <a:rPr lang="en-US" sz="1100" dirty="0">
                <a:solidFill>
                  <a:srgbClr val="55534F"/>
                </a:solidFill>
                <a:latin typeface="Courier New" pitchFamily="34" charset="0"/>
                <a:ea typeface="Courier New" pitchFamily="34" charset="-122"/>
                <a:cs typeface="Courier New" pitchFamily="34" charset="-120"/>
              </a:rPr>
              <a:t>&gt; uplink: nominal</a:t>
            </a:r>
            <a:endParaRPr lang="en-US" sz="1100" dirty="0"/>
          </a:p>
          <a:p>
            <a:pPr indent="0" marL="0">
              <a:lnSpc>
                <a:spcPct val="150000"/>
              </a:lnSpc>
              <a:buNone/>
            </a:pPr>
            <a:r>
              <a:rPr lang="en-US" sz="1100" dirty="0">
                <a:solidFill>
                  <a:srgbClr val="55534F"/>
                </a:solidFill>
                <a:latin typeface="Courier New" pitchFamily="34" charset="0"/>
                <a:ea typeface="Courier New" pitchFamily="34" charset="-122"/>
                <a:cs typeface="Courier New" pitchFamily="34" charset="-120"/>
              </a:rPr>
              <a:t>&gt; governance: cloud-dependent</a:t>
            </a:r>
            <a:endParaRPr lang="en-US" sz="1100" dirty="0"/>
          </a:p>
        </p:txBody>
      </p:sp>
      <p:sp>
        <p:nvSpPr>
          <p:cNvPr id="9" name="Text 7"/>
          <p:cNvSpPr txBox="1"/>
          <p:nvPr/>
        </p:nvSpPr>
        <p:spPr>
          <a:xfrm>
            <a:off x="6949440" y="4709160"/>
            <a:ext cx="4572000" cy="1188720"/>
          </a:xfrm>
          <a:prstGeom prst="rect">
            <a:avLst/>
          </a:prstGeom>
          <a:noFill/>
          <a:ln/>
        </p:spPr>
        <p:txBody>
          <a:bodyPr wrap="square" lIns="0" tIns="0" rIns="0" bIns="0" rtlCol="0" anchor="ctr"/>
          <a:lstStyle/>
          <a:p>
            <a:pPr indent="0" marL="0">
              <a:lnSpc>
                <a:spcPct val="125000"/>
              </a:lnSpc>
              <a:buNone/>
            </a:pPr>
            <a:r>
              <a:rPr lang="en-US" sz="1400" dirty="0">
                <a:solidFill>
                  <a:srgbClr val="97948E"/>
                </a:solidFill>
                <a:latin typeface="Arial" pitchFamily="34" charset="0"/>
                <a:ea typeface="Arial" pitchFamily="34" charset="-122"/>
                <a:cs typeface="Arial" pitchFamily="34" charset="-120"/>
              </a:rPr>
              <a:t>Every rule an autonomous agent follows today lives in the cloud. </a:t>
            </a:r>
            <a:pPr indent="0" marL="0">
              <a:lnSpc>
                <a:spcPct val="125000"/>
              </a:lnSpc>
              <a:buNone/>
            </a:pPr>
            <a:r>
              <a:rPr lang="en-US" sz="1400" b="1" dirty="0">
                <a:solidFill>
                  <a:srgbClr val="EDEAE4"/>
                </a:solidFill>
                <a:latin typeface="Arial" pitchFamily="34" charset="0"/>
                <a:ea typeface="Arial" pitchFamily="34" charset="-122"/>
                <a:cs typeface="Arial" pitchFamily="34" charset="-120"/>
              </a:rPr>
              <a:t>DCAMR is what's left standing </a:t>
            </a:r>
            <a:pPr indent="0" marL="0">
              <a:lnSpc>
                <a:spcPct val="125000"/>
              </a:lnSpc>
              <a:buNone/>
            </a:pPr>
            <a:r>
              <a:rPr lang="en-US" sz="1400" dirty="0">
                <a:solidFill>
                  <a:srgbClr val="97948E"/>
                </a:solidFill>
                <a:latin typeface="Arial" pitchFamily="34" charset="0"/>
                <a:ea typeface="Arial" pitchFamily="34" charset="-122"/>
                <a:cs typeface="Arial" pitchFamily="34" charset="-120"/>
              </a:rPr>
              <a:t>when that connection isn't there.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685800" y="292608"/>
            <a:ext cx="5029200" cy="274320"/>
          </a:xfrm>
          <a:prstGeom prst="rect">
            <a:avLst/>
          </a:prstGeom>
          <a:noFill/>
          <a:ln/>
        </p:spPr>
        <p:txBody>
          <a:bodyPr wrap="square" lIns="0" tIns="0" rIns="0" bIns="0" rtlCol="0" anchor="ctr"/>
          <a:lstStyle/>
          <a:p>
            <a:pPr indent="0" marL="0">
              <a:buNone/>
            </a:pPr>
            <a:r>
              <a:rPr lang="en-US" sz="850" spc="200" kern="0" dirty="0">
                <a:solidFill>
                  <a:srgbClr val="55534F"/>
                </a:solidFill>
                <a:latin typeface="Courier New" pitchFamily="34" charset="0"/>
                <a:ea typeface="Courier New" pitchFamily="34" charset="-122"/>
                <a:cs typeface="Courier New" pitchFamily="34" charset="-120"/>
              </a:rPr>
              <a:t>DN HACKS '26  /  DEFENSE TRACK</a:t>
            </a:r>
            <a:endParaRPr lang="en-US" sz="850" dirty="0"/>
          </a:p>
        </p:txBody>
      </p:sp>
      <p:sp>
        <p:nvSpPr>
          <p:cNvPr id="3" name="Text 1"/>
          <p:cNvSpPr txBox="1"/>
          <p:nvPr/>
        </p:nvSpPr>
        <p:spPr>
          <a:xfrm>
            <a:off x="7848295" y="292608"/>
            <a:ext cx="3657600" cy="274320"/>
          </a:xfrm>
          <a:prstGeom prst="rect">
            <a:avLst/>
          </a:prstGeom>
          <a:noFill/>
          <a:ln/>
        </p:spPr>
        <p:txBody>
          <a:bodyPr wrap="square" lIns="0" tIns="0" rIns="0" bIns="0" rtlCol="0" anchor="ctr"/>
          <a:lstStyle/>
          <a:p>
            <a:pPr algn="r" indent="0" marL="0">
              <a:buNone/>
            </a:pPr>
            <a:r>
              <a:rPr lang="en-US" sz="850" spc="200" kern="0" dirty="0">
                <a:solidFill>
                  <a:srgbClr val="55534F"/>
                </a:solidFill>
                <a:latin typeface="Courier New" pitchFamily="34" charset="0"/>
                <a:ea typeface="Courier New" pitchFamily="34" charset="-122"/>
                <a:cs typeface="Courier New" pitchFamily="34" charset="-120"/>
              </a:rPr>
              <a:t>ALICE / DCAMR</a:t>
            </a:r>
            <a:endParaRPr lang="en-US" sz="850" dirty="0"/>
          </a:p>
        </p:txBody>
      </p:sp>
      <p:sp>
        <p:nvSpPr>
          <p:cNvPr id="4" name="Shape 2"/>
          <p:cNvSpPr/>
          <p:nvPr/>
        </p:nvSpPr>
        <p:spPr>
          <a:xfrm>
            <a:off x="685800" y="6382512"/>
            <a:ext cx="10820095" cy="10973"/>
          </a:xfrm>
          <a:prstGeom prst="rect">
            <a:avLst/>
          </a:prstGeom>
          <a:solidFill>
            <a:srgbClr val="232220"/>
          </a:solidFill>
          <a:ln/>
        </p:spPr>
      </p:sp>
      <p:sp>
        <p:nvSpPr>
          <p:cNvPr id="5" name="Text 3"/>
          <p:cNvSpPr txBox="1"/>
          <p:nvPr/>
        </p:nvSpPr>
        <p:spPr>
          <a:xfrm>
            <a:off x="685800" y="6473952"/>
            <a:ext cx="5486400" cy="274320"/>
          </a:xfrm>
          <a:prstGeom prst="rect">
            <a:avLst/>
          </a:prstGeom>
          <a:noFill/>
          <a:ln/>
        </p:spPr>
        <p:txBody>
          <a:bodyPr wrap="square" lIns="0" tIns="0" rIns="0" bIns="0" rtlCol="0" anchor="ctr"/>
          <a:lstStyle/>
          <a:p>
            <a:pPr indent="0" marL="0">
              <a:buNone/>
            </a:pPr>
            <a:r>
              <a:rPr lang="en-US" sz="750" spc="200" kern="0" dirty="0">
                <a:solidFill>
                  <a:srgbClr val="55534F"/>
                </a:solidFill>
                <a:latin typeface="Courier New" pitchFamily="34" charset="0"/>
                <a:ea typeface="Courier New" pitchFamily="34" charset="-122"/>
                <a:cs typeface="Courier New" pitchFamily="34" charset="-120"/>
              </a:rPr>
              <a:t>STATION DC  /  38.9072 N, 77.0369 W</a:t>
            </a:r>
            <a:endParaRPr lang="en-US" sz="750" dirty="0"/>
          </a:p>
        </p:txBody>
      </p:sp>
      <p:sp>
        <p:nvSpPr>
          <p:cNvPr id="6" name="Text 4"/>
          <p:cNvSpPr txBox="1"/>
          <p:nvPr/>
        </p:nvSpPr>
        <p:spPr>
          <a:xfrm>
            <a:off x="9677095" y="6473952"/>
            <a:ext cx="1828800" cy="274320"/>
          </a:xfrm>
          <a:prstGeom prst="rect">
            <a:avLst/>
          </a:prstGeom>
          <a:noFill/>
          <a:ln/>
        </p:spPr>
        <p:txBody>
          <a:bodyPr wrap="square" lIns="0" tIns="0" rIns="0" bIns="0" rtlCol="0" anchor="ctr"/>
          <a:lstStyle/>
          <a:p>
            <a:pPr algn="r" indent="0" marL="0">
              <a:buNone/>
            </a:pPr>
            <a:r>
              <a:rPr lang="en-US" sz="750" spc="200" kern="0" dirty="0">
                <a:solidFill>
                  <a:srgbClr val="55534F"/>
                </a:solidFill>
                <a:latin typeface="Courier New" pitchFamily="34" charset="0"/>
                <a:ea typeface="Courier New" pitchFamily="34" charset="-122"/>
                <a:cs typeface="Courier New" pitchFamily="34" charset="-120"/>
              </a:rPr>
              <a:t>02 / 10</a:t>
            </a:r>
            <a:endParaRPr lang="en-US" sz="750" dirty="0"/>
          </a:p>
        </p:txBody>
      </p:sp>
      <p:sp>
        <p:nvSpPr>
          <p:cNvPr id="7" name="Text 5"/>
          <p:cNvSpPr txBox="1"/>
          <p:nvPr/>
        </p:nvSpPr>
        <p:spPr>
          <a:xfrm>
            <a:off x="8396935" y="566928"/>
            <a:ext cx="3108960" cy="2011680"/>
          </a:xfrm>
          <a:prstGeom prst="rect">
            <a:avLst/>
          </a:prstGeom>
          <a:noFill/>
          <a:ln/>
        </p:spPr>
        <p:txBody>
          <a:bodyPr wrap="square" lIns="0" tIns="0" rIns="0" bIns="0" rtlCol="0" anchor="ctr"/>
          <a:lstStyle/>
          <a:p>
            <a:pPr algn="r" indent="0" marL="0">
              <a:buNone/>
            </a:pPr>
            <a:r>
              <a:rPr lang="en-US" sz="12000" b="1" dirty="0">
                <a:ln w="15240">
                  <a:solidFill>
                    <a:srgbClr val="262524"/>
                  </a:solidFill>
                </a:ln>
                <a:solidFill>
                  <a:srgbClr val="0B0B0A"/>
                </a:solidFill>
                <a:latin typeface="Arial" pitchFamily="34" charset="0"/>
                <a:ea typeface="Arial" pitchFamily="34" charset="-122"/>
                <a:cs typeface="Arial" pitchFamily="34" charset="-120"/>
              </a:rPr>
              <a:t>01</a:t>
            </a:r>
            <a:endParaRPr lang="en-US" sz="12000" dirty="0"/>
          </a:p>
        </p:txBody>
      </p:sp>
      <p:sp>
        <p:nvSpPr>
          <p:cNvPr id="8" name="Text 6"/>
          <p:cNvSpPr txBox="1"/>
          <p:nvPr/>
        </p:nvSpPr>
        <p:spPr>
          <a:xfrm>
            <a:off x="685800" y="1554480"/>
            <a:ext cx="6400800" cy="320040"/>
          </a:xfrm>
          <a:prstGeom prst="rect">
            <a:avLst/>
          </a:prstGeom>
          <a:noFill/>
          <a:ln/>
        </p:spPr>
        <p:txBody>
          <a:bodyPr wrap="square" lIns="0" tIns="0" rIns="0" bIns="0" rtlCol="0" anchor="ctr"/>
          <a:lstStyle/>
          <a:p>
            <a:pPr indent="0" marL="0">
              <a:buNone/>
            </a:pPr>
            <a:r>
              <a:rPr lang="en-US" sz="1050" spc="400" kern="0" dirty="0">
                <a:solidFill>
                  <a:srgbClr val="55534F"/>
                </a:solidFill>
                <a:latin typeface="Courier New" pitchFamily="34" charset="0"/>
                <a:ea typeface="Courier New" pitchFamily="34" charset="-122"/>
                <a:cs typeface="Courier New" pitchFamily="34" charset="-120"/>
              </a:rPr>
              <a:t>// </a:t>
            </a:r>
            <a:pPr indent="0" marL="0">
              <a:buNone/>
            </a:pPr>
            <a:r>
              <a:rPr lang="en-US" sz="1050" spc="400" kern="0" dirty="0">
                <a:solidFill>
                  <a:srgbClr val="FF4D00"/>
                </a:solidFill>
                <a:latin typeface="Courier New" pitchFamily="34" charset="0"/>
                <a:ea typeface="Courier New" pitchFamily="34" charset="-122"/>
                <a:cs typeface="Courier New" pitchFamily="34" charset="-120"/>
              </a:rPr>
              <a:t>THE SHIFT</a:t>
            </a:r>
            <a:endParaRPr lang="en-US" sz="1050" dirty="0"/>
          </a:p>
        </p:txBody>
      </p:sp>
      <p:sp>
        <p:nvSpPr>
          <p:cNvPr id="9" name="Text 7"/>
          <p:cNvSpPr txBox="1"/>
          <p:nvPr/>
        </p:nvSpPr>
        <p:spPr>
          <a:xfrm>
            <a:off x="685800" y="1965960"/>
            <a:ext cx="9601200" cy="2011680"/>
          </a:xfrm>
          <a:prstGeom prst="rect">
            <a:avLst/>
          </a:prstGeom>
          <a:noFill/>
          <a:ln/>
        </p:spPr>
        <p:txBody>
          <a:bodyPr wrap="square" lIns="0" tIns="0" rIns="0" bIns="0" rtlCol="0" anchor="ctr"/>
          <a:lstStyle/>
          <a:p>
            <a:pPr indent="0" marL="0">
              <a:lnSpc>
                <a:spcPct val="100000"/>
              </a:lnSpc>
              <a:buNone/>
            </a:pPr>
            <a:r>
              <a:rPr lang="en-US" sz="4400" b="1" spc="-100" kern="0" dirty="0">
                <a:solidFill>
                  <a:srgbClr val="EDEAE4"/>
                </a:solidFill>
                <a:latin typeface="Arial" pitchFamily="34" charset="0"/>
                <a:ea typeface="Arial" pitchFamily="34" charset="-122"/>
                <a:cs typeface="Arial" pitchFamily="34" charset="-120"/>
              </a:rPr>
              <a:t>Agents are already</a:t>
            </a:r>
            <a:endParaRPr lang="en-US" sz="4400" dirty="0"/>
          </a:p>
          <a:p>
            <a:pPr indent="0" marL="0">
              <a:lnSpc>
                <a:spcPct val="100000"/>
              </a:lnSpc>
              <a:buNone/>
            </a:pPr>
            <a:r>
              <a:rPr lang="en-US" sz="4400" b="1" spc="-100" kern="0" dirty="0">
                <a:solidFill>
                  <a:srgbClr val="EDEAE4"/>
                </a:solidFill>
                <a:latin typeface="Arial" pitchFamily="34" charset="0"/>
                <a:ea typeface="Arial" pitchFamily="34" charset="-122"/>
                <a:cs typeface="Arial" pitchFamily="34" charset="-120"/>
              </a:rPr>
              <a:t>inside the base.</a:t>
            </a:r>
            <a:endParaRPr lang="en-US" sz="4400" dirty="0"/>
          </a:p>
        </p:txBody>
      </p:sp>
      <p:sp>
        <p:nvSpPr>
          <p:cNvPr id="10" name="Text 8"/>
          <p:cNvSpPr txBox="1"/>
          <p:nvPr/>
        </p:nvSpPr>
        <p:spPr>
          <a:xfrm>
            <a:off x="685800" y="3977640"/>
            <a:ext cx="5669280" cy="1188720"/>
          </a:xfrm>
          <a:prstGeom prst="rect">
            <a:avLst/>
          </a:prstGeom>
          <a:noFill/>
          <a:ln/>
        </p:spPr>
        <p:txBody>
          <a:bodyPr wrap="square" lIns="0" tIns="0" rIns="0" bIns="0" rtlCol="0" anchor="ctr"/>
          <a:lstStyle/>
          <a:p>
            <a:pPr indent="0" marL="0">
              <a:lnSpc>
                <a:spcPct val="125000"/>
              </a:lnSpc>
              <a:buNone/>
            </a:pPr>
            <a:r>
              <a:rPr lang="en-US" sz="1350" dirty="0">
                <a:solidFill>
                  <a:srgbClr val="97948E"/>
                </a:solidFill>
                <a:latin typeface="Arial" pitchFamily="34" charset="0"/>
                <a:ea typeface="Arial" pitchFamily="34" charset="-122"/>
                <a:cs typeface="Arial" pitchFamily="34" charset="-120"/>
              </a:rPr>
              <a:t>Autonomous agents already triage alerts, respond to incidents, and act on </a:t>
            </a:r>
            <a:pPr indent="0" marL="0">
              <a:lnSpc>
                <a:spcPct val="125000"/>
              </a:lnSpc>
              <a:buNone/>
            </a:pPr>
            <a:r>
              <a:rPr lang="en-US" sz="1350" b="1" dirty="0">
                <a:solidFill>
                  <a:srgbClr val="EDEAE4"/>
                </a:solidFill>
                <a:latin typeface="Arial" pitchFamily="34" charset="0"/>
                <a:ea typeface="Arial" pitchFamily="34" charset="-122"/>
                <a:cs typeface="Arial" pitchFamily="34" charset="-120"/>
              </a:rPr>
              <a:t>physical systems</a:t>
            </a:r>
            <a:pPr indent="0" marL="0">
              <a:lnSpc>
                <a:spcPct val="125000"/>
              </a:lnSpc>
              <a:buNone/>
            </a:pPr>
            <a:r>
              <a:rPr lang="en-US" sz="1350" dirty="0">
                <a:solidFill>
                  <a:srgbClr val="97948E"/>
                </a:solidFill>
                <a:latin typeface="Arial" pitchFamily="34" charset="0"/>
                <a:ea typeface="Arial" pitchFamily="34" charset="-122"/>
                <a:cs typeface="Arial" pitchFamily="34" charset="-120"/>
              </a:rPr>
              <a:t>, on the same local networks that run critical infrastructure.</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685800" y="292608"/>
            <a:ext cx="5029200" cy="274320"/>
          </a:xfrm>
          <a:prstGeom prst="rect">
            <a:avLst/>
          </a:prstGeom>
          <a:noFill/>
          <a:ln/>
        </p:spPr>
        <p:txBody>
          <a:bodyPr wrap="square" lIns="0" tIns="0" rIns="0" bIns="0" rtlCol="0" anchor="ctr"/>
          <a:lstStyle/>
          <a:p>
            <a:pPr indent="0" marL="0">
              <a:buNone/>
            </a:pPr>
            <a:r>
              <a:rPr lang="en-US" sz="850" spc="200" kern="0" dirty="0">
                <a:solidFill>
                  <a:srgbClr val="55534F"/>
                </a:solidFill>
                <a:latin typeface="Courier New" pitchFamily="34" charset="0"/>
                <a:ea typeface="Courier New" pitchFamily="34" charset="-122"/>
                <a:cs typeface="Courier New" pitchFamily="34" charset="-120"/>
              </a:rPr>
              <a:t>DN HACKS '26  /  DEFENSE TRACK</a:t>
            </a:r>
            <a:endParaRPr lang="en-US" sz="850" dirty="0"/>
          </a:p>
        </p:txBody>
      </p:sp>
      <p:sp>
        <p:nvSpPr>
          <p:cNvPr id="3" name="Text 1"/>
          <p:cNvSpPr txBox="1"/>
          <p:nvPr/>
        </p:nvSpPr>
        <p:spPr>
          <a:xfrm>
            <a:off x="7848295" y="292608"/>
            <a:ext cx="3657600" cy="274320"/>
          </a:xfrm>
          <a:prstGeom prst="rect">
            <a:avLst/>
          </a:prstGeom>
          <a:noFill/>
          <a:ln/>
        </p:spPr>
        <p:txBody>
          <a:bodyPr wrap="square" lIns="0" tIns="0" rIns="0" bIns="0" rtlCol="0" anchor="ctr"/>
          <a:lstStyle/>
          <a:p>
            <a:pPr algn="r" indent="0" marL="0">
              <a:buNone/>
            </a:pPr>
            <a:r>
              <a:rPr lang="en-US" sz="850" spc="200" kern="0" dirty="0">
                <a:solidFill>
                  <a:srgbClr val="55534F"/>
                </a:solidFill>
                <a:latin typeface="Courier New" pitchFamily="34" charset="0"/>
                <a:ea typeface="Courier New" pitchFamily="34" charset="-122"/>
                <a:cs typeface="Courier New" pitchFamily="34" charset="-120"/>
              </a:rPr>
              <a:t>ALICE / DCAMR</a:t>
            </a:r>
            <a:endParaRPr lang="en-US" sz="850" dirty="0"/>
          </a:p>
        </p:txBody>
      </p:sp>
      <p:sp>
        <p:nvSpPr>
          <p:cNvPr id="4" name="Shape 2"/>
          <p:cNvSpPr/>
          <p:nvPr/>
        </p:nvSpPr>
        <p:spPr>
          <a:xfrm>
            <a:off x="685800" y="6382512"/>
            <a:ext cx="10820095" cy="10973"/>
          </a:xfrm>
          <a:prstGeom prst="rect">
            <a:avLst/>
          </a:prstGeom>
          <a:solidFill>
            <a:srgbClr val="232220"/>
          </a:solidFill>
          <a:ln/>
        </p:spPr>
      </p:sp>
      <p:sp>
        <p:nvSpPr>
          <p:cNvPr id="5" name="Text 3"/>
          <p:cNvSpPr txBox="1"/>
          <p:nvPr/>
        </p:nvSpPr>
        <p:spPr>
          <a:xfrm>
            <a:off x="685800" y="6473952"/>
            <a:ext cx="5486400" cy="274320"/>
          </a:xfrm>
          <a:prstGeom prst="rect">
            <a:avLst/>
          </a:prstGeom>
          <a:noFill/>
          <a:ln/>
        </p:spPr>
        <p:txBody>
          <a:bodyPr wrap="square" lIns="0" tIns="0" rIns="0" bIns="0" rtlCol="0" anchor="ctr"/>
          <a:lstStyle/>
          <a:p>
            <a:pPr indent="0" marL="0">
              <a:buNone/>
            </a:pPr>
            <a:r>
              <a:rPr lang="en-US" sz="750" spc="200" kern="0" dirty="0">
                <a:solidFill>
                  <a:srgbClr val="55534F"/>
                </a:solidFill>
                <a:latin typeface="Courier New" pitchFamily="34" charset="0"/>
                <a:ea typeface="Courier New" pitchFamily="34" charset="-122"/>
                <a:cs typeface="Courier New" pitchFamily="34" charset="-120"/>
              </a:rPr>
              <a:t>STATION DC  /  38.9072 N, 77.0369 W</a:t>
            </a:r>
            <a:endParaRPr lang="en-US" sz="750" dirty="0"/>
          </a:p>
        </p:txBody>
      </p:sp>
      <p:sp>
        <p:nvSpPr>
          <p:cNvPr id="6" name="Text 4"/>
          <p:cNvSpPr txBox="1"/>
          <p:nvPr/>
        </p:nvSpPr>
        <p:spPr>
          <a:xfrm>
            <a:off x="9677095" y="6473952"/>
            <a:ext cx="1828800" cy="274320"/>
          </a:xfrm>
          <a:prstGeom prst="rect">
            <a:avLst/>
          </a:prstGeom>
          <a:noFill/>
          <a:ln/>
        </p:spPr>
        <p:txBody>
          <a:bodyPr wrap="square" lIns="0" tIns="0" rIns="0" bIns="0" rtlCol="0" anchor="ctr"/>
          <a:lstStyle/>
          <a:p>
            <a:pPr algn="r" indent="0" marL="0">
              <a:buNone/>
            </a:pPr>
            <a:r>
              <a:rPr lang="en-US" sz="750" spc="200" kern="0" dirty="0">
                <a:solidFill>
                  <a:srgbClr val="55534F"/>
                </a:solidFill>
                <a:latin typeface="Courier New" pitchFamily="34" charset="0"/>
                <a:ea typeface="Courier New" pitchFamily="34" charset="-122"/>
                <a:cs typeface="Courier New" pitchFamily="34" charset="-120"/>
              </a:rPr>
              <a:t>03 / 10</a:t>
            </a:r>
            <a:endParaRPr lang="en-US" sz="750" dirty="0"/>
          </a:p>
        </p:txBody>
      </p:sp>
      <p:sp>
        <p:nvSpPr>
          <p:cNvPr id="7" name="Text 5"/>
          <p:cNvSpPr txBox="1"/>
          <p:nvPr/>
        </p:nvSpPr>
        <p:spPr>
          <a:xfrm>
            <a:off x="8396935" y="566928"/>
            <a:ext cx="3108960" cy="2011680"/>
          </a:xfrm>
          <a:prstGeom prst="rect">
            <a:avLst/>
          </a:prstGeom>
          <a:noFill/>
          <a:ln/>
        </p:spPr>
        <p:txBody>
          <a:bodyPr wrap="square" lIns="0" tIns="0" rIns="0" bIns="0" rtlCol="0" anchor="ctr"/>
          <a:lstStyle/>
          <a:p>
            <a:pPr algn="r" indent="0" marL="0">
              <a:buNone/>
            </a:pPr>
            <a:r>
              <a:rPr lang="en-US" sz="12000" b="1" dirty="0">
                <a:ln w="15240">
                  <a:solidFill>
                    <a:srgbClr val="262524"/>
                  </a:solidFill>
                </a:ln>
                <a:solidFill>
                  <a:srgbClr val="0B0B0A"/>
                </a:solidFill>
                <a:latin typeface="Arial" pitchFamily="34" charset="0"/>
                <a:ea typeface="Arial" pitchFamily="34" charset="-122"/>
                <a:cs typeface="Arial" pitchFamily="34" charset="-120"/>
              </a:rPr>
              <a:t>02</a:t>
            </a:r>
            <a:endParaRPr lang="en-US" sz="12000" dirty="0"/>
          </a:p>
        </p:txBody>
      </p:sp>
      <p:sp>
        <p:nvSpPr>
          <p:cNvPr id="8" name="Text 6"/>
          <p:cNvSpPr txBox="1"/>
          <p:nvPr/>
        </p:nvSpPr>
        <p:spPr>
          <a:xfrm>
            <a:off x="685800" y="1554480"/>
            <a:ext cx="6400800" cy="320040"/>
          </a:xfrm>
          <a:prstGeom prst="rect">
            <a:avLst/>
          </a:prstGeom>
          <a:noFill/>
          <a:ln/>
        </p:spPr>
        <p:txBody>
          <a:bodyPr wrap="square" lIns="0" tIns="0" rIns="0" bIns="0" rtlCol="0" anchor="ctr"/>
          <a:lstStyle/>
          <a:p>
            <a:pPr indent="0" marL="0">
              <a:buNone/>
            </a:pPr>
            <a:r>
              <a:rPr lang="en-US" sz="1050" spc="400" kern="0" dirty="0">
                <a:solidFill>
                  <a:srgbClr val="55534F"/>
                </a:solidFill>
                <a:latin typeface="Courier New" pitchFamily="34" charset="0"/>
                <a:ea typeface="Courier New" pitchFamily="34" charset="-122"/>
                <a:cs typeface="Courier New" pitchFamily="34" charset="-120"/>
              </a:rPr>
              <a:t>// </a:t>
            </a:r>
            <a:pPr indent="0" marL="0">
              <a:buNone/>
            </a:pPr>
            <a:r>
              <a:rPr lang="en-US" sz="1050" spc="400" kern="0" dirty="0">
                <a:solidFill>
                  <a:srgbClr val="FF4D00"/>
                </a:solidFill>
                <a:latin typeface="Courier New" pitchFamily="34" charset="0"/>
                <a:ea typeface="Courier New" pitchFamily="34" charset="-122"/>
                <a:cs typeface="Courier New" pitchFamily="34" charset="-120"/>
              </a:rPr>
              <a:t>THE ASSUMPTION</a:t>
            </a:r>
            <a:endParaRPr lang="en-US" sz="1050" dirty="0"/>
          </a:p>
        </p:txBody>
      </p:sp>
      <p:sp>
        <p:nvSpPr>
          <p:cNvPr id="9" name="Text 7"/>
          <p:cNvSpPr txBox="1"/>
          <p:nvPr/>
        </p:nvSpPr>
        <p:spPr>
          <a:xfrm>
            <a:off x="685800" y="1965960"/>
            <a:ext cx="9601200" cy="2011680"/>
          </a:xfrm>
          <a:prstGeom prst="rect">
            <a:avLst/>
          </a:prstGeom>
          <a:noFill/>
          <a:ln/>
        </p:spPr>
        <p:txBody>
          <a:bodyPr wrap="square" lIns="0" tIns="0" rIns="0" bIns="0" rtlCol="0" anchor="ctr"/>
          <a:lstStyle/>
          <a:p>
            <a:pPr indent="0" marL="0">
              <a:lnSpc>
                <a:spcPct val="100000"/>
              </a:lnSpc>
              <a:buNone/>
            </a:pPr>
            <a:r>
              <a:rPr lang="en-US" sz="4400" b="1" spc="-100" kern="0" dirty="0">
                <a:solidFill>
                  <a:srgbClr val="EDEAE4"/>
                </a:solidFill>
                <a:latin typeface="Arial" pitchFamily="34" charset="0"/>
                <a:ea typeface="Arial" pitchFamily="34" charset="-122"/>
                <a:cs typeface="Arial" pitchFamily="34" charset="-120"/>
              </a:rPr>
              <a:t>Every rule they follow</a:t>
            </a:r>
            <a:endParaRPr lang="en-US" sz="4400" dirty="0"/>
          </a:p>
          <a:p>
            <a:pPr indent="0" marL="0">
              <a:lnSpc>
                <a:spcPct val="100000"/>
              </a:lnSpc>
              <a:buNone/>
            </a:pPr>
            <a:r>
              <a:rPr lang="en-US" sz="4400" b="1" spc="-100" kern="0" dirty="0">
                <a:solidFill>
                  <a:srgbClr val="EDEAE4"/>
                </a:solidFill>
                <a:latin typeface="Arial" pitchFamily="34" charset="0"/>
                <a:ea typeface="Arial" pitchFamily="34" charset="-122"/>
                <a:cs typeface="Arial" pitchFamily="34" charset="-120"/>
              </a:rPr>
              <a:t>lives in the cloud.</a:t>
            </a:r>
            <a:endParaRPr lang="en-US" sz="4400" dirty="0"/>
          </a:p>
        </p:txBody>
      </p:sp>
      <p:sp>
        <p:nvSpPr>
          <p:cNvPr id="10" name="Text 8"/>
          <p:cNvSpPr txBox="1"/>
          <p:nvPr/>
        </p:nvSpPr>
        <p:spPr>
          <a:xfrm>
            <a:off x="5440680" y="3977640"/>
            <a:ext cx="5486400" cy="1188720"/>
          </a:xfrm>
          <a:prstGeom prst="rect">
            <a:avLst/>
          </a:prstGeom>
          <a:noFill/>
          <a:ln/>
        </p:spPr>
        <p:txBody>
          <a:bodyPr wrap="square" lIns="0" tIns="0" rIns="0" bIns="0" rtlCol="0" anchor="ctr"/>
          <a:lstStyle/>
          <a:p>
            <a:pPr indent="0" marL="0">
              <a:lnSpc>
                <a:spcPct val="125000"/>
              </a:lnSpc>
              <a:buNone/>
            </a:pPr>
            <a:r>
              <a:rPr lang="en-US" sz="1350" dirty="0">
                <a:solidFill>
                  <a:srgbClr val="97948E"/>
                </a:solidFill>
                <a:latin typeface="Arial" pitchFamily="34" charset="0"/>
                <a:ea typeface="Arial" pitchFamily="34" charset="-122"/>
                <a:cs typeface="Arial" pitchFamily="34" charset="-120"/>
              </a:rPr>
              <a:t>Policy servers. SIEM. EDR. Oversight dashboards. The entire governance layer assumes one thing: </a:t>
            </a:r>
            <a:pPr indent="0" marL="0">
              <a:lnSpc>
                <a:spcPct val="125000"/>
              </a:lnSpc>
              <a:buNone/>
            </a:pPr>
            <a:r>
              <a:rPr lang="en-US" sz="1350" b="1" dirty="0">
                <a:solidFill>
                  <a:srgbClr val="EDEAE4"/>
                </a:solidFill>
                <a:latin typeface="Arial" pitchFamily="34" charset="0"/>
                <a:ea typeface="Arial" pitchFamily="34" charset="-122"/>
                <a:cs typeface="Arial" pitchFamily="34" charset="-120"/>
              </a:rPr>
              <a:t>a live connection back.</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685800" y="292608"/>
            <a:ext cx="5029200" cy="274320"/>
          </a:xfrm>
          <a:prstGeom prst="rect">
            <a:avLst/>
          </a:prstGeom>
          <a:noFill/>
          <a:ln/>
        </p:spPr>
        <p:txBody>
          <a:bodyPr wrap="square" lIns="0" tIns="0" rIns="0" bIns="0" rtlCol="0" anchor="ctr"/>
          <a:lstStyle/>
          <a:p>
            <a:pPr indent="0" marL="0">
              <a:buNone/>
            </a:pPr>
            <a:r>
              <a:rPr lang="en-US" sz="850" spc="200" kern="0" dirty="0">
                <a:solidFill>
                  <a:srgbClr val="55534F"/>
                </a:solidFill>
                <a:latin typeface="Courier New" pitchFamily="34" charset="0"/>
                <a:ea typeface="Courier New" pitchFamily="34" charset="-122"/>
                <a:cs typeface="Courier New" pitchFamily="34" charset="-120"/>
              </a:rPr>
              <a:t>DN HACKS '26  /  DEFENSE TRACK</a:t>
            </a:r>
            <a:endParaRPr lang="en-US" sz="850" dirty="0"/>
          </a:p>
        </p:txBody>
      </p:sp>
      <p:sp>
        <p:nvSpPr>
          <p:cNvPr id="3" name="Text 1"/>
          <p:cNvSpPr txBox="1"/>
          <p:nvPr/>
        </p:nvSpPr>
        <p:spPr>
          <a:xfrm>
            <a:off x="7848295" y="292608"/>
            <a:ext cx="3657600" cy="274320"/>
          </a:xfrm>
          <a:prstGeom prst="rect">
            <a:avLst/>
          </a:prstGeom>
          <a:noFill/>
          <a:ln/>
        </p:spPr>
        <p:txBody>
          <a:bodyPr wrap="square" lIns="0" tIns="0" rIns="0" bIns="0" rtlCol="0" anchor="ctr"/>
          <a:lstStyle/>
          <a:p>
            <a:pPr algn="r" indent="0" marL="0">
              <a:buNone/>
            </a:pPr>
            <a:r>
              <a:rPr lang="en-US" sz="850" spc="200" kern="0" dirty="0">
                <a:solidFill>
                  <a:srgbClr val="55534F"/>
                </a:solidFill>
                <a:latin typeface="Courier New" pitchFamily="34" charset="0"/>
                <a:ea typeface="Courier New" pitchFamily="34" charset="-122"/>
                <a:cs typeface="Courier New" pitchFamily="34" charset="-120"/>
              </a:rPr>
              <a:t>ALICE / DCAMR</a:t>
            </a:r>
            <a:endParaRPr lang="en-US" sz="850" dirty="0"/>
          </a:p>
        </p:txBody>
      </p:sp>
      <p:sp>
        <p:nvSpPr>
          <p:cNvPr id="4" name="Shape 2"/>
          <p:cNvSpPr/>
          <p:nvPr/>
        </p:nvSpPr>
        <p:spPr>
          <a:xfrm>
            <a:off x="685800" y="6382512"/>
            <a:ext cx="10820095" cy="10973"/>
          </a:xfrm>
          <a:prstGeom prst="rect">
            <a:avLst/>
          </a:prstGeom>
          <a:solidFill>
            <a:srgbClr val="232220"/>
          </a:solidFill>
          <a:ln/>
        </p:spPr>
      </p:sp>
      <p:sp>
        <p:nvSpPr>
          <p:cNvPr id="5" name="Text 3"/>
          <p:cNvSpPr txBox="1"/>
          <p:nvPr/>
        </p:nvSpPr>
        <p:spPr>
          <a:xfrm>
            <a:off x="685800" y="6473952"/>
            <a:ext cx="5486400" cy="274320"/>
          </a:xfrm>
          <a:prstGeom prst="rect">
            <a:avLst/>
          </a:prstGeom>
          <a:noFill/>
          <a:ln/>
        </p:spPr>
        <p:txBody>
          <a:bodyPr wrap="square" lIns="0" tIns="0" rIns="0" bIns="0" rtlCol="0" anchor="ctr"/>
          <a:lstStyle/>
          <a:p>
            <a:pPr indent="0" marL="0">
              <a:buNone/>
            </a:pPr>
            <a:r>
              <a:rPr lang="en-US" sz="750" spc="200" kern="0" dirty="0">
                <a:solidFill>
                  <a:srgbClr val="55534F"/>
                </a:solidFill>
                <a:latin typeface="Courier New" pitchFamily="34" charset="0"/>
                <a:ea typeface="Courier New" pitchFamily="34" charset="-122"/>
                <a:cs typeface="Courier New" pitchFamily="34" charset="-120"/>
              </a:rPr>
              <a:t>STATION DC  /  38.9072 N, 77.0369 W</a:t>
            </a:r>
            <a:endParaRPr lang="en-US" sz="750" dirty="0"/>
          </a:p>
        </p:txBody>
      </p:sp>
      <p:sp>
        <p:nvSpPr>
          <p:cNvPr id="6" name="Text 4"/>
          <p:cNvSpPr txBox="1"/>
          <p:nvPr/>
        </p:nvSpPr>
        <p:spPr>
          <a:xfrm>
            <a:off x="9677095" y="6473952"/>
            <a:ext cx="1828800" cy="274320"/>
          </a:xfrm>
          <a:prstGeom prst="rect">
            <a:avLst/>
          </a:prstGeom>
          <a:noFill/>
          <a:ln/>
        </p:spPr>
        <p:txBody>
          <a:bodyPr wrap="square" lIns="0" tIns="0" rIns="0" bIns="0" rtlCol="0" anchor="ctr"/>
          <a:lstStyle/>
          <a:p>
            <a:pPr algn="r" indent="0" marL="0">
              <a:buNone/>
            </a:pPr>
            <a:r>
              <a:rPr lang="en-US" sz="750" spc="200" kern="0" dirty="0">
                <a:solidFill>
                  <a:srgbClr val="55534F"/>
                </a:solidFill>
                <a:latin typeface="Courier New" pitchFamily="34" charset="0"/>
                <a:ea typeface="Courier New" pitchFamily="34" charset="-122"/>
                <a:cs typeface="Courier New" pitchFamily="34" charset="-120"/>
              </a:rPr>
              <a:t>04 / 10</a:t>
            </a:r>
            <a:endParaRPr lang="en-US" sz="750" dirty="0"/>
          </a:p>
        </p:txBody>
      </p:sp>
      <p:sp>
        <p:nvSpPr>
          <p:cNvPr id="7" name="Text 5"/>
          <p:cNvSpPr txBox="1"/>
          <p:nvPr/>
        </p:nvSpPr>
        <p:spPr>
          <a:xfrm>
            <a:off x="685800" y="1325880"/>
            <a:ext cx="6400800" cy="320040"/>
          </a:xfrm>
          <a:prstGeom prst="rect">
            <a:avLst/>
          </a:prstGeom>
          <a:noFill/>
          <a:ln/>
        </p:spPr>
        <p:txBody>
          <a:bodyPr wrap="square" lIns="0" tIns="0" rIns="0" bIns="0" rtlCol="0" anchor="ctr"/>
          <a:lstStyle/>
          <a:p>
            <a:pPr indent="0" marL="0">
              <a:buNone/>
            </a:pPr>
            <a:r>
              <a:rPr lang="en-US" sz="1050" spc="400" kern="0" dirty="0">
                <a:solidFill>
                  <a:srgbClr val="55534F"/>
                </a:solidFill>
                <a:latin typeface="Courier New" pitchFamily="34" charset="0"/>
                <a:ea typeface="Courier New" pitchFamily="34" charset="-122"/>
                <a:cs typeface="Courier New" pitchFamily="34" charset="-120"/>
              </a:rPr>
              <a:t>// </a:t>
            </a:r>
            <a:pPr indent="0" marL="0">
              <a:buNone/>
            </a:pPr>
            <a:r>
              <a:rPr lang="en-US" sz="1050" spc="400" kern="0" dirty="0">
                <a:solidFill>
                  <a:srgbClr val="FF4D00"/>
                </a:solidFill>
                <a:latin typeface="Courier New" pitchFamily="34" charset="0"/>
                <a:ea typeface="Courier New" pitchFamily="34" charset="-122"/>
                <a:cs typeface="Courier New" pitchFamily="34" charset="-120"/>
              </a:rPr>
              <a:t>THE BLACKOUT</a:t>
            </a:r>
            <a:endParaRPr lang="en-US" sz="1050" dirty="0"/>
          </a:p>
        </p:txBody>
      </p:sp>
      <p:sp>
        <p:nvSpPr>
          <p:cNvPr id="8" name="Text 6"/>
          <p:cNvSpPr txBox="1"/>
          <p:nvPr/>
        </p:nvSpPr>
        <p:spPr>
          <a:xfrm>
            <a:off x="630936" y="1737360"/>
            <a:ext cx="7863840" cy="2377440"/>
          </a:xfrm>
          <a:prstGeom prst="rect">
            <a:avLst/>
          </a:prstGeom>
          <a:noFill/>
          <a:ln/>
        </p:spPr>
        <p:txBody>
          <a:bodyPr wrap="square" lIns="0" tIns="0" rIns="0" bIns="0" rtlCol="0" anchor="ctr"/>
          <a:lstStyle/>
          <a:p>
            <a:pPr indent="0" marL="0">
              <a:buNone/>
            </a:pPr>
            <a:r>
              <a:rPr lang="en-US" sz="15000" b="1" spc="-200" kern="0" dirty="0">
                <a:solidFill>
                  <a:srgbClr val="EDEAE4"/>
                </a:solidFill>
                <a:latin typeface="Courier New" pitchFamily="34" charset="0"/>
                <a:ea typeface="Courier New" pitchFamily="34" charset="-122"/>
                <a:cs typeface="Courier New" pitchFamily="34" charset="-120"/>
              </a:rPr>
              <a:t>03:14</a:t>
            </a:r>
            <a:endParaRPr lang="en-US" sz="15000" dirty="0"/>
          </a:p>
        </p:txBody>
      </p:sp>
      <p:sp>
        <p:nvSpPr>
          <p:cNvPr id="9" name="Shape 7"/>
          <p:cNvSpPr/>
          <p:nvPr/>
        </p:nvSpPr>
        <p:spPr>
          <a:xfrm>
            <a:off x="8366760" y="2331720"/>
            <a:ext cx="2148840" cy="566928"/>
          </a:xfrm>
          <a:prstGeom prst="rect">
            <a:avLst/>
          </a:prstGeom>
          <a:solidFill>
            <a:srgbClr val="070706"/>
          </a:solidFill>
          <a:ln w="15875">
            <a:solidFill>
              <a:srgbClr val="A33A0C"/>
            </a:solidFill>
            <a:prstDash val="solid"/>
          </a:ln>
        </p:spPr>
      </p:sp>
      <p:sp>
        <p:nvSpPr>
          <p:cNvPr id="10" name="Text 8"/>
          <p:cNvSpPr txBox="1"/>
          <p:nvPr/>
        </p:nvSpPr>
        <p:spPr>
          <a:xfrm>
            <a:off x="8366760" y="2331720"/>
            <a:ext cx="2148840" cy="566928"/>
          </a:xfrm>
          <a:prstGeom prst="rect">
            <a:avLst/>
          </a:prstGeom>
          <a:noFill/>
          <a:ln/>
        </p:spPr>
        <p:txBody>
          <a:bodyPr wrap="square" lIns="0" tIns="0" rIns="0" bIns="0" rtlCol="0" anchor="ctr"/>
          <a:lstStyle/>
          <a:p>
            <a:pPr algn="ctr" indent="0" marL="0">
              <a:buNone/>
            </a:pPr>
            <a:r>
              <a:rPr lang="en-US" sz="1100" spc="500" kern="0" dirty="0">
                <a:solidFill>
                  <a:srgbClr val="FF4D00"/>
                </a:solidFill>
                <a:latin typeface="Courier New" pitchFamily="34" charset="0"/>
                <a:ea typeface="Courier New" pitchFamily="34" charset="-122"/>
                <a:cs typeface="Courier New" pitchFamily="34" charset="-120"/>
              </a:rPr>
              <a:t>LINK LOST</a:t>
            </a:r>
            <a:endParaRPr lang="en-US" sz="1100" dirty="0"/>
          </a:p>
        </p:txBody>
      </p:sp>
      <p:sp>
        <p:nvSpPr>
          <p:cNvPr id="11" name="Text 9"/>
          <p:cNvSpPr txBox="1"/>
          <p:nvPr/>
        </p:nvSpPr>
        <p:spPr>
          <a:xfrm>
            <a:off x="685800" y="4663440"/>
            <a:ext cx="6949440" cy="1188720"/>
          </a:xfrm>
          <a:prstGeom prst="rect">
            <a:avLst/>
          </a:prstGeom>
          <a:noFill/>
          <a:ln/>
        </p:spPr>
        <p:txBody>
          <a:bodyPr wrap="square" lIns="0" tIns="0" rIns="0" bIns="0" rtlCol="0" anchor="ctr"/>
          <a:lstStyle/>
          <a:p>
            <a:pPr indent="0" marL="0">
              <a:lnSpc>
                <a:spcPct val="125000"/>
              </a:lnSpc>
              <a:buNone/>
            </a:pPr>
            <a:r>
              <a:rPr lang="en-US" sz="1500" dirty="0">
                <a:solidFill>
                  <a:srgbClr val="97948E"/>
                </a:solidFill>
                <a:latin typeface="Arial" pitchFamily="34" charset="0"/>
                <a:ea typeface="Arial" pitchFamily="34" charset="-122"/>
                <a:cs typeface="Arial" pitchFamily="34" charset="-120"/>
              </a:rPr>
              <a:t>The base loses connectivity. No SIEM. No policy server. No oversight reaches the local network. </a:t>
            </a:r>
            <a:pPr indent="0" marL="0">
              <a:lnSpc>
                <a:spcPct val="125000"/>
              </a:lnSpc>
              <a:buNone/>
            </a:pPr>
            <a:r>
              <a:rPr lang="en-US" sz="1500" b="1" dirty="0">
                <a:solidFill>
                  <a:srgbClr val="EDEAE4"/>
                </a:solidFill>
                <a:latin typeface="Arial" pitchFamily="34" charset="0"/>
                <a:ea typeface="Arial" pitchFamily="34" charset="-122"/>
                <a:cs typeface="Arial" pitchFamily="34" charset="-120"/>
              </a:rPr>
              <a:t>The agents on it do not stop.</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685800" y="292608"/>
            <a:ext cx="5029200" cy="274320"/>
          </a:xfrm>
          <a:prstGeom prst="rect">
            <a:avLst/>
          </a:prstGeom>
          <a:noFill/>
          <a:ln/>
        </p:spPr>
        <p:txBody>
          <a:bodyPr wrap="square" lIns="0" tIns="0" rIns="0" bIns="0" rtlCol="0" anchor="ctr"/>
          <a:lstStyle/>
          <a:p>
            <a:pPr indent="0" marL="0">
              <a:buNone/>
            </a:pPr>
            <a:r>
              <a:rPr lang="en-US" sz="850" spc="200" kern="0" dirty="0">
                <a:solidFill>
                  <a:srgbClr val="55534F"/>
                </a:solidFill>
                <a:latin typeface="Courier New" pitchFamily="34" charset="0"/>
                <a:ea typeface="Courier New" pitchFamily="34" charset="-122"/>
                <a:cs typeface="Courier New" pitchFamily="34" charset="-120"/>
              </a:rPr>
              <a:t>DN HACKS '26  /  DEFENSE TRACK</a:t>
            </a:r>
            <a:endParaRPr lang="en-US" sz="850" dirty="0"/>
          </a:p>
        </p:txBody>
      </p:sp>
      <p:sp>
        <p:nvSpPr>
          <p:cNvPr id="3" name="Text 1"/>
          <p:cNvSpPr txBox="1"/>
          <p:nvPr/>
        </p:nvSpPr>
        <p:spPr>
          <a:xfrm>
            <a:off x="7848295" y="292608"/>
            <a:ext cx="3657600" cy="274320"/>
          </a:xfrm>
          <a:prstGeom prst="rect">
            <a:avLst/>
          </a:prstGeom>
          <a:noFill/>
          <a:ln/>
        </p:spPr>
        <p:txBody>
          <a:bodyPr wrap="square" lIns="0" tIns="0" rIns="0" bIns="0" rtlCol="0" anchor="ctr"/>
          <a:lstStyle/>
          <a:p>
            <a:pPr algn="r" indent="0" marL="0">
              <a:buNone/>
            </a:pPr>
            <a:r>
              <a:rPr lang="en-US" sz="850" spc="200" kern="0" dirty="0">
                <a:solidFill>
                  <a:srgbClr val="55534F"/>
                </a:solidFill>
                <a:latin typeface="Courier New" pitchFamily="34" charset="0"/>
                <a:ea typeface="Courier New" pitchFamily="34" charset="-122"/>
                <a:cs typeface="Courier New" pitchFamily="34" charset="-120"/>
              </a:rPr>
              <a:t>ALICE / DCAMR</a:t>
            </a:r>
            <a:endParaRPr lang="en-US" sz="850" dirty="0"/>
          </a:p>
        </p:txBody>
      </p:sp>
      <p:sp>
        <p:nvSpPr>
          <p:cNvPr id="4" name="Shape 2"/>
          <p:cNvSpPr/>
          <p:nvPr/>
        </p:nvSpPr>
        <p:spPr>
          <a:xfrm>
            <a:off x="685800" y="6382512"/>
            <a:ext cx="10820095" cy="10973"/>
          </a:xfrm>
          <a:prstGeom prst="rect">
            <a:avLst/>
          </a:prstGeom>
          <a:solidFill>
            <a:srgbClr val="232220"/>
          </a:solidFill>
          <a:ln/>
        </p:spPr>
      </p:sp>
      <p:sp>
        <p:nvSpPr>
          <p:cNvPr id="5" name="Text 3"/>
          <p:cNvSpPr txBox="1"/>
          <p:nvPr/>
        </p:nvSpPr>
        <p:spPr>
          <a:xfrm>
            <a:off x="685800" y="6473952"/>
            <a:ext cx="5486400" cy="274320"/>
          </a:xfrm>
          <a:prstGeom prst="rect">
            <a:avLst/>
          </a:prstGeom>
          <a:noFill/>
          <a:ln/>
        </p:spPr>
        <p:txBody>
          <a:bodyPr wrap="square" lIns="0" tIns="0" rIns="0" bIns="0" rtlCol="0" anchor="ctr"/>
          <a:lstStyle/>
          <a:p>
            <a:pPr indent="0" marL="0">
              <a:buNone/>
            </a:pPr>
            <a:r>
              <a:rPr lang="en-US" sz="750" spc="200" kern="0" dirty="0">
                <a:solidFill>
                  <a:srgbClr val="55534F"/>
                </a:solidFill>
                <a:latin typeface="Courier New" pitchFamily="34" charset="0"/>
                <a:ea typeface="Courier New" pitchFamily="34" charset="-122"/>
                <a:cs typeface="Courier New" pitchFamily="34" charset="-120"/>
              </a:rPr>
              <a:t>STATION DC  /  38.9072 N, 77.0369 W</a:t>
            </a:r>
            <a:endParaRPr lang="en-US" sz="750" dirty="0"/>
          </a:p>
        </p:txBody>
      </p:sp>
      <p:sp>
        <p:nvSpPr>
          <p:cNvPr id="6" name="Text 4"/>
          <p:cNvSpPr txBox="1"/>
          <p:nvPr/>
        </p:nvSpPr>
        <p:spPr>
          <a:xfrm>
            <a:off x="9677095" y="6473952"/>
            <a:ext cx="1828800" cy="274320"/>
          </a:xfrm>
          <a:prstGeom prst="rect">
            <a:avLst/>
          </a:prstGeom>
          <a:noFill/>
          <a:ln/>
        </p:spPr>
        <p:txBody>
          <a:bodyPr wrap="square" lIns="0" tIns="0" rIns="0" bIns="0" rtlCol="0" anchor="ctr"/>
          <a:lstStyle/>
          <a:p>
            <a:pPr algn="r" indent="0" marL="0">
              <a:buNone/>
            </a:pPr>
            <a:r>
              <a:rPr lang="en-US" sz="750" spc="200" kern="0" dirty="0">
                <a:solidFill>
                  <a:srgbClr val="55534F"/>
                </a:solidFill>
                <a:latin typeface="Courier New" pitchFamily="34" charset="0"/>
                <a:ea typeface="Courier New" pitchFamily="34" charset="-122"/>
                <a:cs typeface="Courier New" pitchFamily="34" charset="-120"/>
              </a:rPr>
              <a:t>05 / 10</a:t>
            </a:r>
            <a:endParaRPr lang="en-US" sz="750" dirty="0"/>
          </a:p>
        </p:txBody>
      </p:sp>
      <p:sp>
        <p:nvSpPr>
          <p:cNvPr id="7" name="Text 5"/>
          <p:cNvSpPr txBox="1"/>
          <p:nvPr/>
        </p:nvSpPr>
        <p:spPr>
          <a:xfrm>
            <a:off x="8396935" y="566928"/>
            <a:ext cx="3108960" cy="2011680"/>
          </a:xfrm>
          <a:prstGeom prst="rect">
            <a:avLst/>
          </a:prstGeom>
          <a:noFill/>
          <a:ln/>
        </p:spPr>
        <p:txBody>
          <a:bodyPr wrap="square" lIns="0" tIns="0" rIns="0" bIns="0" rtlCol="0" anchor="ctr"/>
          <a:lstStyle/>
          <a:p>
            <a:pPr algn="r" indent="0" marL="0">
              <a:buNone/>
            </a:pPr>
            <a:r>
              <a:rPr lang="en-US" sz="12000" b="1" dirty="0">
                <a:ln w="15240">
                  <a:solidFill>
                    <a:srgbClr val="262524"/>
                  </a:solidFill>
                </a:ln>
                <a:solidFill>
                  <a:srgbClr val="0B0B0A"/>
                </a:solidFill>
                <a:latin typeface="Arial" pitchFamily="34" charset="0"/>
                <a:ea typeface="Arial" pitchFamily="34" charset="-122"/>
                <a:cs typeface="Arial" pitchFamily="34" charset="-120"/>
              </a:rPr>
              <a:t>04</a:t>
            </a:r>
            <a:endParaRPr lang="en-US" sz="12000" dirty="0"/>
          </a:p>
        </p:txBody>
      </p:sp>
      <p:sp>
        <p:nvSpPr>
          <p:cNvPr id="8" name="Text 6"/>
          <p:cNvSpPr txBox="1"/>
          <p:nvPr/>
        </p:nvSpPr>
        <p:spPr>
          <a:xfrm>
            <a:off x="685800" y="1234440"/>
            <a:ext cx="6400800" cy="320040"/>
          </a:xfrm>
          <a:prstGeom prst="rect">
            <a:avLst/>
          </a:prstGeom>
          <a:noFill/>
          <a:ln/>
        </p:spPr>
        <p:txBody>
          <a:bodyPr wrap="square" lIns="0" tIns="0" rIns="0" bIns="0" rtlCol="0" anchor="ctr"/>
          <a:lstStyle/>
          <a:p>
            <a:pPr indent="0" marL="0">
              <a:buNone/>
            </a:pPr>
            <a:r>
              <a:rPr lang="en-US" sz="1050" spc="400" kern="0" dirty="0">
                <a:solidFill>
                  <a:srgbClr val="55534F"/>
                </a:solidFill>
                <a:latin typeface="Courier New" pitchFamily="34" charset="0"/>
                <a:ea typeface="Courier New" pitchFamily="34" charset="-122"/>
                <a:cs typeface="Courier New" pitchFamily="34" charset="-120"/>
              </a:rPr>
              <a:t>// </a:t>
            </a:r>
            <a:pPr indent="0" marL="0">
              <a:buNone/>
            </a:pPr>
            <a:r>
              <a:rPr lang="en-US" sz="1050" spc="400" kern="0" dirty="0">
                <a:solidFill>
                  <a:srgbClr val="FF4D00"/>
                </a:solidFill>
                <a:latin typeface="Courier New" pitchFamily="34" charset="0"/>
                <a:ea typeface="Courier New" pitchFamily="34" charset="-122"/>
                <a:cs typeface="Courier New" pitchFamily="34" charset="-120"/>
              </a:rPr>
              <a:t>THE PATTERN</a:t>
            </a:r>
            <a:endParaRPr lang="en-US" sz="1050" dirty="0"/>
          </a:p>
        </p:txBody>
      </p:sp>
      <p:sp>
        <p:nvSpPr>
          <p:cNvPr id="9" name="Text 7"/>
          <p:cNvSpPr txBox="1"/>
          <p:nvPr/>
        </p:nvSpPr>
        <p:spPr>
          <a:xfrm>
            <a:off x="685800" y="1645920"/>
            <a:ext cx="9601200" cy="2011680"/>
          </a:xfrm>
          <a:prstGeom prst="rect">
            <a:avLst/>
          </a:prstGeom>
          <a:noFill/>
          <a:ln/>
        </p:spPr>
        <p:txBody>
          <a:bodyPr wrap="square" lIns="0" tIns="0" rIns="0" bIns="0" rtlCol="0" anchor="ctr"/>
          <a:lstStyle/>
          <a:p>
            <a:pPr indent="0" marL="0">
              <a:lnSpc>
                <a:spcPct val="100000"/>
              </a:lnSpc>
              <a:buNone/>
            </a:pPr>
            <a:r>
              <a:rPr lang="en-US" sz="3800" b="1" spc="-100" kern="0" dirty="0">
                <a:solidFill>
                  <a:srgbClr val="EDEAE4"/>
                </a:solidFill>
                <a:latin typeface="Arial" pitchFamily="34" charset="0"/>
                <a:ea typeface="Arial" pitchFamily="34" charset="-122"/>
                <a:cs typeface="Arial" pitchFamily="34" charset="-120"/>
              </a:rPr>
              <a:t>The system does exactly</a:t>
            </a:r>
            <a:endParaRPr lang="en-US" sz="3800" dirty="0"/>
          </a:p>
          <a:p>
            <a:pPr indent="0" marL="0">
              <a:lnSpc>
                <a:spcPct val="100000"/>
              </a:lnSpc>
              <a:buNone/>
            </a:pPr>
            <a:r>
              <a:rPr lang="en-US" sz="3800" b="1" spc="-100" kern="0" dirty="0">
                <a:solidFill>
                  <a:srgbClr val="EDEAE4"/>
                </a:solidFill>
                <a:latin typeface="Arial" pitchFamily="34" charset="0"/>
                <a:ea typeface="Arial" pitchFamily="34" charset="-122"/>
                <a:cs typeface="Arial" pitchFamily="34" charset="-120"/>
              </a:rPr>
              <a:t>what it learned.</a:t>
            </a:r>
            <a:endParaRPr lang="en-US" sz="3800" dirty="0"/>
          </a:p>
        </p:txBody>
      </p:sp>
      <p:sp>
        <p:nvSpPr>
          <p:cNvPr id="10" name="Text 8"/>
          <p:cNvSpPr txBox="1"/>
          <p:nvPr/>
        </p:nvSpPr>
        <p:spPr>
          <a:xfrm>
            <a:off x="685800" y="3246120"/>
            <a:ext cx="6766560" cy="685800"/>
          </a:xfrm>
          <a:prstGeom prst="rect">
            <a:avLst/>
          </a:prstGeom>
          <a:noFill/>
          <a:ln/>
        </p:spPr>
        <p:txBody>
          <a:bodyPr wrap="square" lIns="0" tIns="0" rIns="0" bIns="0" rtlCol="0" anchor="ctr"/>
          <a:lstStyle/>
          <a:p>
            <a:pPr indent="0" marL="0">
              <a:lnSpc>
                <a:spcPct val="125000"/>
              </a:lnSpc>
              <a:buNone/>
            </a:pPr>
            <a:r>
              <a:rPr lang="en-US" sz="1250" dirty="0">
                <a:solidFill>
                  <a:srgbClr val="97948E"/>
                </a:solidFill>
                <a:latin typeface="Arial" pitchFamily="34" charset="0"/>
                <a:ea typeface="Arial" pitchFamily="34" charset="-122"/>
                <a:cs typeface="Arial" pitchFamily="34" charset="-120"/>
              </a:rPr>
              <a:t>Temperature climbs in a facility bay. The cooling agent responds the way it was trained to: </a:t>
            </a:r>
            <a:pPr indent="0" marL="0">
              <a:lnSpc>
                <a:spcPct val="125000"/>
              </a:lnSpc>
              <a:buNone/>
            </a:pPr>
            <a:r>
              <a:rPr lang="en-US" sz="1250" b="1" dirty="0">
                <a:solidFill>
                  <a:srgbClr val="EDEAE4"/>
                </a:solidFill>
                <a:latin typeface="Arial" pitchFamily="34" charset="0"/>
                <a:ea typeface="Arial" pitchFamily="34" charset="-122"/>
                <a:cs typeface="Arial" pitchFamily="34" charset="-120"/>
              </a:rPr>
              <a:t>small, measured steps.</a:t>
            </a:r>
            <a:endParaRPr lang="en-US" sz="1250" dirty="0"/>
          </a:p>
        </p:txBody>
      </p:sp>
      <p:sp>
        <p:nvSpPr>
          <p:cNvPr id="11" name="Shape 9"/>
          <p:cNvSpPr/>
          <p:nvPr/>
        </p:nvSpPr>
        <p:spPr>
          <a:xfrm>
            <a:off x="685800" y="4069080"/>
            <a:ext cx="10820095" cy="10973"/>
          </a:xfrm>
          <a:prstGeom prst="rect">
            <a:avLst/>
          </a:prstGeom>
          <a:solidFill>
            <a:srgbClr val="232220"/>
          </a:solidFill>
          <a:ln/>
        </p:spPr>
      </p:sp>
      <p:sp>
        <p:nvSpPr>
          <p:cNvPr id="12" name="Text 10"/>
          <p:cNvSpPr txBox="1"/>
          <p:nvPr/>
        </p:nvSpPr>
        <p:spPr>
          <a:xfrm>
            <a:off x="685800" y="4197096"/>
            <a:ext cx="640080" cy="411480"/>
          </a:xfrm>
          <a:prstGeom prst="rect">
            <a:avLst/>
          </a:prstGeom>
          <a:noFill/>
          <a:ln/>
        </p:spPr>
        <p:txBody>
          <a:bodyPr wrap="square" lIns="0" tIns="0" rIns="0" bIns="0" rtlCol="0" anchor="ctr"/>
          <a:lstStyle/>
          <a:p>
            <a:pPr indent="0" marL="0">
              <a:buNone/>
            </a:pPr>
            <a:r>
              <a:rPr lang="en-US" sz="1000" dirty="0">
                <a:solidFill>
                  <a:srgbClr val="55534F"/>
                </a:solidFill>
                <a:latin typeface="Courier New" pitchFamily="34" charset="0"/>
                <a:ea typeface="Courier New" pitchFamily="34" charset="-122"/>
                <a:cs typeface="Courier New" pitchFamily="34" charset="-120"/>
              </a:rPr>
              <a:t>01</a:t>
            </a:r>
            <a:endParaRPr lang="en-US" sz="1000" dirty="0"/>
          </a:p>
        </p:txBody>
      </p:sp>
      <p:sp>
        <p:nvSpPr>
          <p:cNvPr id="13" name="Text 11"/>
          <p:cNvSpPr txBox="1"/>
          <p:nvPr/>
        </p:nvSpPr>
        <p:spPr>
          <a:xfrm>
            <a:off x="1463040" y="4197096"/>
            <a:ext cx="2651760" cy="411480"/>
          </a:xfrm>
          <a:prstGeom prst="rect">
            <a:avLst/>
          </a:prstGeom>
          <a:noFill/>
          <a:ln/>
        </p:spPr>
        <p:txBody>
          <a:bodyPr wrap="square" lIns="0" tIns="0" rIns="0" bIns="0" rtlCol="0" anchor="ctr"/>
          <a:lstStyle/>
          <a:p>
            <a:pPr indent="0" marL="0">
              <a:buNone/>
            </a:pPr>
            <a:r>
              <a:rPr lang="en-US" sz="1050" dirty="0">
                <a:solidFill>
                  <a:srgbClr val="97948E"/>
                </a:solidFill>
                <a:latin typeface="Courier New" pitchFamily="34" charset="0"/>
                <a:ea typeface="Courier New" pitchFamily="34" charset="-122"/>
                <a:cs typeface="Courier New" pitchFamily="34" charset="-120"/>
              </a:rPr>
              <a:t>cooling-agent-01</a:t>
            </a:r>
            <a:endParaRPr lang="en-US" sz="1050" dirty="0"/>
          </a:p>
        </p:txBody>
      </p:sp>
      <p:sp>
        <p:nvSpPr>
          <p:cNvPr id="14" name="Text 12"/>
          <p:cNvSpPr txBox="1"/>
          <p:nvPr/>
        </p:nvSpPr>
        <p:spPr>
          <a:xfrm>
            <a:off x="4343400" y="4197096"/>
            <a:ext cx="4206240" cy="411480"/>
          </a:xfrm>
          <a:prstGeom prst="rect">
            <a:avLst/>
          </a:prstGeom>
          <a:noFill/>
          <a:ln/>
        </p:spPr>
        <p:txBody>
          <a:bodyPr wrap="square" lIns="0" tIns="0" rIns="0" bIns="0" rtlCol="0" anchor="ctr"/>
          <a:lstStyle/>
          <a:p>
            <a:pPr indent="0" marL="0">
              <a:buNone/>
            </a:pPr>
            <a:r>
              <a:rPr lang="en-US" sz="1600" dirty="0">
                <a:solidFill>
                  <a:srgbClr val="EDEAE4"/>
                </a:solidFill>
                <a:latin typeface="Arial" pitchFamily="34" charset="0"/>
                <a:ea typeface="Arial" pitchFamily="34" charset="-122"/>
                <a:cs typeface="Arial" pitchFamily="34" charset="-120"/>
              </a:rPr>
              <a:t>fan_speed </a:t>
            </a:r>
            <a:pPr indent="0" marL="0">
              <a:buNone/>
            </a:pPr>
            <a:r>
              <a:rPr lang="en-US" sz="1600" b="1" dirty="0">
                <a:solidFill>
                  <a:srgbClr val="EDEAE4"/>
                </a:solidFill>
                <a:latin typeface="Arial" pitchFamily="34" charset="0"/>
                <a:ea typeface="Arial" pitchFamily="34" charset="-122"/>
                <a:cs typeface="Arial" pitchFamily="34" charset="-120"/>
              </a:rPr>
              <a:t>+10%</a:t>
            </a:r>
            <a:endParaRPr lang="en-US" sz="1600" dirty="0"/>
          </a:p>
        </p:txBody>
      </p:sp>
      <p:sp>
        <p:nvSpPr>
          <p:cNvPr id="15" name="Text 13"/>
          <p:cNvSpPr txBox="1"/>
          <p:nvPr/>
        </p:nvSpPr>
        <p:spPr>
          <a:xfrm>
            <a:off x="9128455" y="4197096"/>
            <a:ext cx="2377440" cy="411480"/>
          </a:xfrm>
          <a:prstGeom prst="rect">
            <a:avLst/>
          </a:prstGeom>
          <a:noFill/>
          <a:ln/>
        </p:spPr>
        <p:txBody>
          <a:bodyPr wrap="square" lIns="0" tIns="0" rIns="0" bIns="0" rtlCol="0" anchor="ctr"/>
          <a:lstStyle/>
          <a:p>
            <a:pPr algn="r" indent="0" marL="0">
              <a:buNone/>
            </a:pPr>
            <a:r>
              <a:rPr lang="en-US" sz="1050" spc="500" kern="0" dirty="0">
                <a:solidFill>
                  <a:srgbClr val="97948E"/>
                </a:solidFill>
                <a:latin typeface="Courier New" pitchFamily="34" charset="0"/>
                <a:ea typeface="Courier New" pitchFamily="34" charset="-122"/>
                <a:cs typeface="Courier New" pitchFamily="34" charset="-120"/>
              </a:rPr>
              <a:t>ALLOW</a:t>
            </a:r>
            <a:endParaRPr lang="en-US" sz="1050" dirty="0"/>
          </a:p>
        </p:txBody>
      </p:sp>
      <p:sp>
        <p:nvSpPr>
          <p:cNvPr id="16" name="Shape 14"/>
          <p:cNvSpPr/>
          <p:nvPr/>
        </p:nvSpPr>
        <p:spPr>
          <a:xfrm>
            <a:off x="685800" y="4727448"/>
            <a:ext cx="10820095" cy="10973"/>
          </a:xfrm>
          <a:prstGeom prst="rect">
            <a:avLst/>
          </a:prstGeom>
          <a:solidFill>
            <a:srgbClr val="232220"/>
          </a:solidFill>
          <a:ln/>
        </p:spPr>
      </p:sp>
      <p:sp>
        <p:nvSpPr>
          <p:cNvPr id="17" name="Text 15"/>
          <p:cNvSpPr txBox="1"/>
          <p:nvPr/>
        </p:nvSpPr>
        <p:spPr>
          <a:xfrm>
            <a:off x="685800" y="4855464"/>
            <a:ext cx="640080" cy="411480"/>
          </a:xfrm>
          <a:prstGeom prst="rect">
            <a:avLst/>
          </a:prstGeom>
          <a:noFill/>
          <a:ln/>
        </p:spPr>
        <p:txBody>
          <a:bodyPr wrap="square" lIns="0" tIns="0" rIns="0" bIns="0" rtlCol="0" anchor="ctr"/>
          <a:lstStyle/>
          <a:p>
            <a:pPr indent="0" marL="0">
              <a:buNone/>
            </a:pPr>
            <a:r>
              <a:rPr lang="en-US" sz="1000" dirty="0">
                <a:solidFill>
                  <a:srgbClr val="55534F"/>
                </a:solidFill>
                <a:latin typeface="Courier New" pitchFamily="34" charset="0"/>
                <a:ea typeface="Courier New" pitchFamily="34" charset="-122"/>
                <a:cs typeface="Courier New" pitchFamily="34" charset="-120"/>
              </a:rPr>
              <a:t>02</a:t>
            </a:r>
            <a:endParaRPr lang="en-US" sz="1000" dirty="0"/>
          </a:p>
        </p:txBody>
      </p:sp>
      <p:sp>
        <p:nvSpPr>
          <p:cNvPr id="18" name="Text 16"/>
          <p:cNvSpPr txBox="1"/>
          <p:nvPr/>
        </p:nvSpPr>
        <p:spPr>
          <a:xfrm>
            <a:off x="1463040" y="4855464"/>
            <a:ext cx="2651760" cy="411480"/>
          </a:xfrm>
          <a:prstGeom prst="rect">
            <a:avLst/>
          </a:prstGeom>
          <a:noFill/>
          <a:ln/>
        </p:spPr>
        <p:txBody>
          <a:bodyPr wrap="square" lIns="0" tIns="0" rIns="0" bIns="0" rtlCol="0" anchor="ctr"/>
          <a:lstStyle/>
          <a:p>
            <a:pPr indent="0" marL="0">
              <a:buNone/>
            </a:pPr>
            <a:r>
              <a:rPr lang="en-US" sz="1050" dirty="0">
                <a:solidFill>
                  <a:srgbClr val="97948E"/>
                </a:solidFill>
                <a:latin typeface="Courier New" pitchFamily="34" charset="0"/>
                <a:ea typeface="Courier New" pitchFamily="34" charset="-122"/>
                <a:cs typeface="Courier New" pitchFamily="34" charset="-120"/>
              </a:rPr>
              <a:t>cooling-agent-01</a:t>
            </a:r>
            <a:endParaRPr lang="en-US" sz="1050" dirty="0"/>
          </a:p>
        </p:txBody>
      </p:sp>
      <p:sp>
        <p:nvSpPr>
          <p:cNvPr id="19" name="Text 17"/>
          <p:cNvSpPr txBox="1"/>
          <p:nvPr/>
        </p:nvSpPr>
        <p:spPr>
          <a:xfrm>
            <a:off x="4343400" y="4855464"/>
            <a:ext cx="4206240" cy="411480"/>
          </a:xfrm>
          <a:prstGeom prst="rect">
            <a:avLst/>
          </a:prstGeom>
          <a:noFill/>
          <a:ln/>
        </p:spPr>
        <p:txBody>
          <a:bodyPr wrap="square" lIns="0" tIns="0" rIns="0" bIns="0" rtlCol="0" anchor="ctr"/>
          <a:lstStyle/>
          <a:p>
            <a:pPr indent="0" marL="0">
              <a:buNone/>
            </a:pPr>
            <a:r>
              <a:rPr lang="en-US" sz="1600" dirty="0">
                <a:solidFill>
                  <a:srgbClr val="EDEAE4"/>
                </a:solidFill>
                <a:latin typeface="Arial" pitchFamily="34" charset="0"/>
                <a:ea typeface="Arial" pitchFamily="34" charset="-122"/>
                <a:cs typeface="Arial" pitchFamily="34" charset="-120"/>
              </a:rPr>
              <a:t>fan_speed </a:t>
            </a:r>
            <a:pPr indent="0" marL="0">
              <a:buNone/>
            </a:pPr>
            <a:r>
              <a:rPr lang="en-US" sz="1600" b="1" dirty="0">
                <a:solidFill>
                  <a:srgbClr val="EDEAE4"/>
                </a:solidFill>
                <a:latin typeface="Arial" pitchFamily="34" charset="0"/>
                <a:ea typeface="Arial" pitchFamily="34" charset="-122"/>
                <a:cs typeface="Arial" pitchFamily="34" charset="-120"/>
              </a:rPr>
              <a:t>+10%</a:t>
            </a:r>
            <a:endParaRPr lang="en-US" sz="1600" dirty="0"/>
          </a:p>
        </p:txBody>
      </p:sp>
      <p:sp>
        <p:nvSpPr>
          <p:cNvPr id="20" name="Text 18"/>
          <p:cNvSpPr txBox="1"/>
          <p:nvPr/>
        </p:nvSpPr>
        <p:spPr>
          <a:xfrm>
            <a:off x="9128455" y="4855464"/>
            <a:ext cx="2377440" cy="411480"/>
          </a:xfrm>
          <a:prstGeom prst="rect">
            <a:avLst/>
          </a:prstGeom>
          <a:noFill/>
          <a:ln/>
        </p:spPr>
        <p:txBody>
          <a:bodyPr wrap="square" lIns="0" tIns="0" rIns="0" bIns="0" rtlCol="0" anchor="ctr"/>
          <a:lstStyle/>
          <a:p>
            <a:pPr algn="r" indent="0" marL="0">
              <a:buNone/>
            </a:pPr>
            <a:r>
              <a:rPr lang="en-US" sz="1050" spc="500" kern="0" dirty="0">
                <a:solidFill>
                  <a:srgbClr val="97948E"/>
                </a:solidFill>
                <a:latin typeface="Courier New" pitchFamily="34" charset="0"/>
                <a:ea typeface="Courier New" pitchFamily="34" charset="-122"/>
                <a:cs typeface="Courier New" pitchFamily="34" charset="-120"/>
              </a:rPr>
              <a:t>ALLOW</a:t>
            </a:r>
            <a:endParaRPr lang="en-US" sz="1050" dirty="0"/>
          </a:p>
        </p:txBody>
      </p:sp>
      <p:sp>
        <p:nvSpPr>
          <p:cNvPr id="21" name="Shape 19"/>
          <p:cNvSpPr/>
          <p:nvPr/>
        </p:nvSpPr>
        <p:spPr>
          <a:xfrm>
            <a:off x="685800" y="5385816"/>
            <a:ext cx="10820095" cy="10973"/>
          </a:xfrm>
          <a:prstGeom prst="rect">
            <a:avLst/>
          </a:prstGeom>
          <a:solidFill>
            <a:srgbClr val="232220"/>
          </a:solidFill>
          <a:ln/>
        </p:spPr>
      </p:sp>
      <p:sp>
        <p:nvSpPr>
          <p:cNvPr id="22" name="Text 20"/>
          <p:cNvSpPr txBox="1"/>
          <p:nvPr/>
        </p:nvSpPr>
        <p:spPr>
          <a:xfrm>
            <a:off x="685800" y="5513832"/>
            <a:ext cx="640080" cy="411480"/>
          </a:xfrm>
          <a:prstGeom prst="rect">
            <a:avLst/>
          </a:prstGeom>
          <a:noFill/>
          <a:ln/>
        </p:spPr>
        <p:txBody>
          <a:bodyPr wrap="square" lIns="0" tIns="0" rIns="0" bIns="0" rtlCol="0" anchor="ctr"/>
          <a:lstStyle/>
          <a:p>
            <a:pPr indent="0" marL="0">
              <a:buNone/>
            </a:pPr>
            <a:r>
              <a:rPr lang="en-US" sz="1000" dirty="0">
                <a:solidFill>
                  <a:srgbClr val="55534F"/>
                </a:solidFill>
                <a:latin typeface="Courier New" pitchFamily="34" charset="0"/>
                <a:ea typeface="Courier New" pitchFamily="34" charset="-122"/>
                <a:cs typeface="Courier New" pitchFamily="34" charset="-120"/>
              </a:rPr>
              <a:t>03</a:t>
            </a:r>
            <a:endParaRPr lang="en-US" sz="1000" dirty="0"/>
          </a:p>
        </p:txBody>
      </p:sp>
      <p:sp>
        <p:nvSpPr>
          <p:cNvPr id="23" name="Text 21"/>
          <p:cNvSpPr txBox="1"/>
          <p:nvPr/>
        </p:nvSpPr>
        <p:spPr>
          <a:xfrm>
            <a:off x="1463040" y="5513832"/>
            <a:ext cx="2651760" cy="411480"/>
          </a:xfrm>
          <a:prstGeom prst="rect">
            <a:avLst/>
          </a:prstGeom>
          <a:noFill/>
          <a:ln/>
        </p:spPr>
        <p:txBody>
          <a:bodyPr wrap="square" lIns="0" tIns="0" rIns="0" bIns="0" rtlCol="0" anchor="ctr"/>
          <a:lstStyle/>
          <a:p>
            <a:pPr indent="0" marL="0">
              <a:buNone/>
            </a:pPr>
            <a:r>
              <a:rPr lang="en-US" sz="1050" dirty="0">
                <a:solidFill>
                  <a:srgbClr val="97948E"/>
                </a:solidFill>
                <a:latin typeface="Courier New" pitchFamily="34" charset="0"/>
                <a:ea typeface="Courier New" pitchFamily="34" charset="-122"/>
                <a:cs typeface="Courier New" pitchFamily="34" charset="-120"/>
              </a:rPr>
              <a:t>cooling-agent-01</a:t>
            </a:r>
            <a:endParaRPr lang="en-US" sz="1050" dirty="0"/>
          </a:p>
        </p:txBody>
      </p:sp>
      <p:sp>
        <p:nvSpPr>
          <p:cNvPr id="24" name="Text 22"/>
          <p:cNvSpPr txBox="1"/>
          <p:nvPr/>
        </p:nvSpPr>
        <p:spPr>
          <a:xfrm>
            <a:off x="4343400" y="5513832"/>
            <a:ext cx="4206240" cy="411480"/>
          </a:xfrm>
          <a:prstGeom prst="rect">
            <a:avLst/>
          </a:prstGeom>
          <a:noFill/>
          <a:ln/>
        </p:spPr>
        <p:txBody>
          <a:bodyPr wrap="square" lIns="0" tIns="0" rIns="0" bIns="0" rtlCol="0" anchor="ctr"/>
          <a:lstStyle/>
          <a:p>
            <a:pPr indent="0" marL="0">
              <a:buNone/>
            </a:pPr>
            <a:r>
              <a:rPr lang="en-US" sz="1600" dirty="0">
                <a:solidFill>
                  <a:srgbClr val="EDEAE4"/>
                </a:solidFill>
                <a:latin typeface="Arial" pitchFamily="34" charset="0"/>
                <a:ea typeface="Arial" pitchFamily="34" charset="-122"/>
                <a:cs typeface="Arial" pitchFamily="34" charset="-120"/>
              </a:rPr>
              <a:t>fan_speed </a:t>
            </a:r>
            <a:pPr indent="0" marL="0">
              <a:buNone/>
            </a:pPr>
            <a:r>
              <a:rPr lang="en-US" sz="1600" b="1" dirty="0">
                <a:solidFill>
                  <a:srgbClr val="EDEAE4"/>
                </a:solidFill>
                <a:latin typeface="Arial" pitchFamily="34" charset="0"/>
                <a:ea typeface="Arial" pitchFamily="34" charset="-122"/>
                <a:cs typeface="Arial" pitchFamily="34" charset="-120"/>
              </a:rPr>
              <a:t>+10%</a:t>
            </a:r>
            <a:endParaRPr lang="en-US" sz="1600" dirty="0"/>
          </a:p>
        </p:txBody>
      </p:sp>
      <p:sp>
        <p:nvSpPr>
          <p:cNvPr id="25" name="Text 23"/>
          <p:cNvSpPr txBox="1"/>
          <p:nvPr/>
        </p:nvSpPr>
        <p:spPr>
          <a:xfrm>
            <a:off x="9128455" y="5513832"/>
            <a:ext cx="2377440" cy="411480"/>
          </a:xfrm>
          <a:prstGeom prst="rect">
            <a:avLst/>
          </a:prstGeom>
          <a:noFill/>
          <a:ln/>
        </p:spPr>
        <p:txBody>
          <a:bodyPr wrap="square" lIns="0" tIns="0" rIns="0" bIns="0" rtlCol="0" anchor="ctr"/>
          <a:lstStyle/>
          <a:p>
            <a:pPr algn="r" indent="0" marL="0">
              <a:buNone/>
            </a:pPr>
            <a:r>
              <a:rPr lang="en-US" sz="1050" spc="500" kern="0" dirty="0">
                <a:solidFill>
                  <a:srgbClr val="97948E"/>
                </a:solidFill>
                <a:latin typeface="Courier New" pitchFamily="34" charset="0"/>
                <a:ea typeface="Courier New" pitchFamily="34" charset="-122"/>
                <a:cs typeface="Courier New" pitchFamily="34" charset="-120"/>
              </a:rPr>
              <a:t>ALLOW</a:t>
            </a:r>
            <a:endParaRPr lang="en-US" sz="1050" dirty="0"/>
          </a:p>
        </p:txBody>
      </p:sp>
      <p:sp>
        <p:nvSpPr>
          <p:cNvPr id="26" name="Text 24"/>
          <p:cNvSpPr txBox="1"/>
          <p:nvPr/>
        </p:nvSpPr>
        <p:spPr>
          <a:xfrm>
            <a:off x="685800" y="6099048"/>
            <a:ext cx="8229600" cy="274320"/>
          </a:xfrm>
          <a:prstGeom prst="rect">
            <a:avLst/>
          </a:prstGeom>
          <a:noFill/>
          <a:ln/>
        </p:spPr>
        <p:txBody>
          <a:bodyPr wrap="square" lIns="0" tIns="0" rIns="0" bIns="0" rtlCol="0" anchor="ctr"/>
          <a:lstStyle/>
          <a:p>
            <a:pPr indent="0" marL="0">
              <a:buNone/>
            </a:pPr>
            <a:r>
              <a:rPr lang="en-US" sz="900" spc="100" kern="0" dirty="0">
                <a:solidFill>
                  <a:srgbClr val="55534F"/>
                </a:solidFill>
                <a:latin typeface="Courier New" pitchFamily="34" charset="0"/>
                <a:ea typeface="Courier New" pitchFamily="34" charset="-122"/>
                <a:cs typeface="Courier New" pitchFamily="34" charset="-120"/>
              </a:rPr>
              <a:t>three requests / three approvals / this is what normal looks like here</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685800" y="292608"/>
            <a:ext cx="5029200" cy="274320"/>
          </a:xfrm>
          <a:prstGeom prst="rect">
            <a:avLst/>
          </a:prstGeom>
          <a:noFill/>
          <a:ln/>
        </p:spPr>
        <p:txBody>
          <a:bodyPr wrap="square" lIns="0" tIns="0" rIns="0" bIns="0" rtlCol="0" anchor="ctr"/>
          <a:lstStyle/>
          <a:p>
            <a:pPr indent="0" marL="0">
              <a:buNone/>
            </a:pPr>
            <a:r>
              <a:rPr lang="en-US" sz="850" spc="200" kern="0" dirty="0">
                <a:solidFill>
                  <a:srgbClr val="55534F"/>
                </a:solidFill>
                <a:latin typeface="Courier New" pitchFamily="34" charset="0"/>
                <a:ea typeface="Courier New" pitchFamily="34" charset="-122"/>
                <a:cs typeface="Courier New" pitchFamily="34" charset="-120"/>
              </a:rPr>
              <a:t>DN HACKS '26  /  DEFENSE TRACK</a:t>
            </a:r>
            <a:endParaRPr lang="en-US" sz="850" dirty="0"/>
          </a:p>
        </p:txBody>
      </p:sp>
      <p:sp>
        <p:nvSpPr>
          <p:cNvPr id="3" name="Text 1"/>
          <p:cNvSpPr txBox="1"/>
          <p:nvPr/>
        </p:nvSpPr>
        <p:spPr>
          <a:xfrm>
            <a:off x="7848295" y="292608"/>
            <a:ext cx="3657600" cy="274320"/>
          </a:xfrm>
          <a:prstGeom prst="rect">
            <a:avLst/>
          </a:prstGeom>
          <a:noFill/>
          <a:ln/>
        </p:spPr>
        <p:txBody>
          <a:bodyPr wrap="square" lIns="0" tIns="0" rIns="0" bIns="0" rtlCol="0" anchor="ctr"/>
          <a:lstStyle/>
          <a:p>
            <a:pPr algn="r" indent="0" marL="0">
              <a:buNone/>
            </a:pPr>
            <a:r>
              <a:rPr lang="en-US" sz="850" spc="200" kern="0" dirty="0">
                <a:solidFill>
                  <a:srgbClr val="55534F"/>
                </a:solidFill>
                <a:latin typeface="Courier New" pitchFamily="34" charset="0"/>
                <a:ea typeface="Courier New" pitchFamily="34" charset="-122"/>
                <a:cs typeface="Courier New" pitchFamily="34" charset="-120"/>
              </a:rPr>
              <a:t>ALICE / DCAMR</a:t>
            </a:r>
            <a:endParaRPr lang="en-US" sz="850" dirty="0"/>
          </a:p>
        </p:txBody>
      </p:sp>
      <p:sp>
        <p:nvSpPr>
          <p:cNvPr id="4" name="Shape 2"/>
          <p:cNvSpPr/>
          <p:nvPr/>
        </p:nvSpPr>
        <p:spPr>
          <a:xfrm>
            <a:off x="685800" y="6382512"/>
            <a:ext cx="10820095" cy="10973"/>
          </a:xfrm>
          <a:prstGeom prst="rect">
            <a:avLst/>
          </a:prstGeom>
          <a:solidFill>
            <a:srgbClr val="232220"/>
          </a:solidFill>
          <a:ln/>
        </p:spPr>
      </p:sp>
      <p:sp>
        <p:nvSpPr>
          <p:cNvPr id="5" name="Text 3"/>
          <p:cNvSpPr txBox="1"/>
          <p:nvPr/>
        </p:nvSpPr>
        <p:spPr>
          <a:xfrm>
            <a:off x="685800" y="6473952"/>
            <a:ext cx="5486400" cy="274320"/>
          </a:xfrm>
          <a:prstGeom prst="rect">
            <a:avLst/>
          </a:prstGeom>
          <a:noFill/>
          <a:ln/>
        </p:spPr>
        <p:txBody>
          <a:bodyPr wrap="square" lIns="0" tIns="0" rIns="0" bIns="0" rtlCol="0" anchor="ctr"/>
          <a:lstStyle/>
          <a:p>
            <a:pPr indent="0" marL="0">
              <a:buNone/>
            </a:pPr>
            <a:r>
              <a:rPr lang="en-US" sz="750" spc="200" kern="0" dirty="0">
                <a:solidFill>
                  <a:srgbClr val="55534F"/>
                </a:solidFill>
                <a:latin typeface="Courier New" pitchFamily="34" charset="0"/>
                <a:ea typeface="Courier New" pitchFamily="34" charset="-122"/>
                <a:cs typeface="Courier New" pitchFamily="34" charset="-120"/>
              </a:rPr>
              <a:t>STATION DC  /  38.9072 N, 77.0369 W</a:t>
            </a:r>
            <a:endParaRPr lang="en-US" sz="750" dirty="0"/>
          </a:p>
        </p:txBody>
      </p:sp>
      <p:sp>
        <p:nvSpPr>
          <p:cNvPr id="6" name="Text 4"/>
          <p:cNvSpPr txBox="1"/>
          <p:nvPr/>
        </p:nvSpPr>
        <p:spPr>
          <a:xfrm>
            <a:off x="9677095" y="6473952"/>
            <a:ext cx="1828800" cy="274320"/>
          </a:xfrm>
          <a:prstGeom prst="rect">
            <a:avLst/>
          </a:prstGeom>
          <a:noFill/>
          <a:ln/>
        </p:spPr>
        <p:txBody>
          <a:bodyPr wrap="square" lIns="0" tIns="0" rIns="0" bIns="0" rtlCol="0" anchor="ctr"/>
          <a:lstStyle/>
          <a:p>
            <a:pPr algn="r" indent="0" marL="0">
              <a:buNone/>
            </a:pPr>
            <a:r>
              <a:rPr lang="en-US" sz="750" spc="200" kern="0" dirty="0">
                <a:solidFill>
                  <a:srgbClr val="55534F"/>
                </a:solidFill>
                <a:latin typeface="Courier New" pitchFamily="34" charset="0"/>
                <a:ea typeface="Courier New" pitchFamily="34" charset="-122"/>
                <a:cs typeface="Courier New" pitchFamily="34" charset="-120"/>
              </a:rPr>
              <a:t>06 / 10</a:t>
            </a:r>
            <a:endParaRPr lang="en-US" sz="750" dirty="0"/>
          </a:p>
        </p:txBody>
      </p:sp>
      <p:sp>
        <p:nvSpPr>
          <p:cNvPr id="7" name="Text 5"/>
          <p:cNvSpPr txBox="1"/>
          <p:nvPr/>
        </p:nvSpPr>
        <p:spPr>
          <a:xfrm>
            <a:off x="8396935" y="566928"/>
            <a:ext cx="3108960" cy="2011680"/>
          </a:xfrm>
          <a:prstGeom prst="rect">
            <a:avLst/>
          </a:prstGeom>
          <a:noFill/>
          <a:ln/>
        </p:spPr>
        <p:txBody>
          <a:bodyPr wrap="square" lIns="0" tIns="0" rIns="0" bIns="0" rtlCol="0" anchor="ctr"/>
          <a:lstStyle/>
          <a:p>
            <a:pPr algn="r" indent="0" marL="0">
              <a:buNone/>
            </a:pPr>
            <a:r>
              <a:rPr lang="en-US" sz="12000" b="1" dirty="0">
                <a:ln w="15240">
                  <a:solidFill>
                    <a:srgbClr val="262524"/>
                  </a:solidFill>
                </a:ln>
                <a:solidFill>
                  <a:srgbClr val="0B0B0A"/>
                </a:solidFill>
                <a:latin typeface="Arial" pitchFamily="34" charset="0"/>
                <a:ea typeface="Arial" pitchFamily="34" charset="-122"/>
                <a:cs typeface="Arial" pitchFamily="34" charset="-120"/>
              </a:rPr>
              <a:t>05</a:t>
            </a:r>
            <a:endParaRPr lang="en-US" sz="12000" dirty="0"/>
          </a:p>
        </p:txBody>
      </p:sp>
      <p:sp>
        <p:nvSpPr>
          <p:cNvPr id="8" name="Text 6"/>
          <p:cNvSpPr txBox="1"/>
          <p:nvPr/>
        </p:nvSpPr>
        <p:spPr>
          <a:xfrm>
            <a:off x="685800" y="1234440"/>
            <a:ext cx="6400800" cy="320040"/>
          </a:xfrm>
          <a:prstGeom prst="rect">
            <a:avLst/>
          </a:prstGeom>
          <a:noFill/>
          <a:ln/>
        </p:spPr>
        <p:txBody>
          <a:bodyPr wrap="square" lIns="0" tIns="0" rIns="0" bIns="0" rtlCol="0" anchor="ctr"/>
          <a:lstStyle/>
          <a:p>
            <a:pPr indent="0" marL="0">
              <a:buNone/>
            </a:pPr>
            <a:r>
              <a:rPr lang="en-US" sz="1050" spc="400" kern="0" dirty="0">
                <a:solidFill>
                  <a:srgbClr val="55534F"/>
                </a:solidFill>
                <a:latin typeface="Courier New" pitchFamily="34" charset="0"/>
                <a:ea typeface="Courier New" pitchFamily="34" charset="-122"/>
                <a:cs typeface="Courier New" pitchFamily="34" charset="-120"/>
              </a:rPr>
              <a:t>// </a:t>
            </a:r>
            <a:pPr indent="0" marL="0">
              <a:buNone/>
            </a:pPr>
            <a:r>
              <a:rPr lang="en-US" sz="1050" spc="400" kern="0" dirty="0">
                <a:solidFill>
                  <a:srgbClr val="FF4D00"/>
                </a:solidFill>
                <a:latin typeface="Courier New" pitchFamily="34" charset="0"/>
                <a:ea typeface="Courier New" pitchFamily="34" charset="-122"/>
                <a:cs typeface="Courier New" pitchFamily="34" charset="-120"/>
              </a:rPr>
              <a:t>THE ANOMALY</a:t>
            </a:r>
            <a:endParaRPr lang="en-US" sz="1050" dirty="0"/>
          </a:p>
        </p:txBody>
      </p:sp>
      <p:sp>
        <p:nvSpPr>
          <p:cNvPr id="9" name="Text 7"/>
          <p:cNvSpPr txBox="1"/>
          <p:nvPr/>
        </p:nvSpPr>
        <p:spPr>
          <a:xfrm>
            <a:off x="685800" y="1645920"/>
            <a:ext cx="9601200" cy="2011680"/>
          </a:xfrm>
          <a:prstGeom prst="rect">
            <a:avLst/>
          </a:prstGeom>
          <a:noFill/>
          <a:ln/>
        </p:spPr>
        <p:txBody>
          <a:bodyPr wrap="square" lIns="0" tIns="0" rIns="0" bIns="0" rtlCol="0" anchor="ctr"/>
          <a:lstStyle/>
          <a:p>
            <a:pPr indent="0" marL="0">
              <a:lnSpc>
                <a:spcPct val="100000"/>
              </a:lnSpc>
              <a:buNone/>
            </a:pPr>
            <a:r>
              <a:rPr lang="en-US" sz="3800" b="1" spc="-100" kern="0" dirty="0">
                <a:solidFill>
                  <a:srgbClr val="EDEAE4"/>
                </a:solidFill>
                <a:latin typeface="Arial" pitchFamily="34" charset="0"/>
                <a:ea typeface="Arial" pitchFamily="34" charset="-122"/>
                <a:cs typeface="Arial" pitchFamily="34" charset="-120"/>
              </a:rPr>
              <a:t>Then one request</a:t>
            </a:r>
            <a:endParaRPr lang="en-US" sz="3800" dirty="0"/>
          </a:p>
          <a:p>
            <a:pPr indent="0" marL="0">
              <a:lnSpc>
                <a:spcPct val="100000"/>
              </a:lnSpc>
              <a:buNone/>
            </a:pPr>
            <a:r>
              <a:rPr lang="en-US" sz="3800" b="1" spc="-100" kern="0" dirty="0">
                <a:solidFill>
                  <a:srgbClr val="EDEAE4"/>
                </a:solidFill>
                <a:latin typeface="Arial" pitchFamily="34" charset="0"/>
                <a:ea typeface="Arial" pitchFamily="34" charset="-122"/>
                <a:cs typeface="Arial" pitchFamily="34" charset="-120"/>
              </a:rPr>
              <a:t>breaks the pattern.</a:t>
            </a:r>
            <a:endParaRPr lang="en-US" sz="3800" dirty="0"/>
          </a:p>
        </p:txBody>
      </p:sp>
      <p:sp>
        <p:nvSpPr>
          <p:cNvPr id="10" name="Text 8"/>
          <p:cNvSpPr txBox="1"/>
          <p:nvPr/>
        </p:nvSpPr>
        <p:spPr>
          <a:xfrm>
            <a:off x="685800" y="3246120"/>
            <a:ext cx="6949440" cy="868680"/>
          </a:xfrm>
          <a:prstGeom prst="rect">
            <a:avLst/>
          </a:prstGeom>
          <a:noFill/>
          <a:ln/>
        </p:spPr>
        <p:txBody>
          <a:bodyPr wrap="square" lIns="0" tIns="0" rIns="0" bIns="0" rtlCol="0" anchor="ctr"/>
          <a:lstStyle/>
          <a:p>
            <a:pPr indent="0" marL="0">
              <a:lnSpc>
                <a:spcPct val="125000"/>
              </a:lnSpc>
              <a:buNone/>
            </a:pPr>
            <a:r>
              <a:rPr lang="en-US" sz="1250" dirty="0">
                <a:solidFill>
                  <a:srgbClr val="97948E"/>
                </a:solidFill>
                <a:latin typeface="Arial" pitchFamily="34" charset="0"/>
                <a:ea typeface="Arial" pitchFamily="34" charset="-122"/>
                <a:cs typeface="Arial" pitchFamily="34" charset="-120"/>
              </a:rPr>
              <a:t>Rising fan speed pushes power draw over a threshold. A different agent, </a:t>
            </a:r>
            <a:pPr indent="0" marL="0">
              <a:lnSpc>
                <a:spcPct val="125000"/>
              </a:lnSpc>
              <a:buNone/>
            </a:pPr>
            <a:r>
              <a:rPr lang="en-US" sz="1250" b="1" dirty="0">
                <a:solidFill>
                  <a:srgbClr val="EDEAE4"/>
                </a:solidFill>
                <a:latin typeface="Arial" pitchFamily="34" charset="0"/>
                <a:ea typeface="Arial" pitchFamily="34" charset="-122"/>
                <a:cs typeface="Arial" pitchFamily="34" charset="-120"/>
              </a:rPr>
              <a:t>also authorized</a:t>
            </a:r>
            <a:pPr indent="0" marL="0">
              <a:lnSpc>
                <a:spcPct val="125000"/>
              </a:lnSpc>
              <a:buNone/>
            </a:pPr>
            <a:r>
              <a:rPr lang="en-US" sz="1250" dirty="0">
                <a:solidFill>
                  <a:srgbClr val="97948E"/>
                </a:solidFill>
                <a:latin typeface="Arial" pitchFamily="34" charset="0"/>
                <a:ea typeface="Arial" pitchFamily="34" charset="-122"/>
                <a:cs typeface="Arial" pitchFamily="34" charset="-120"/>
              </a:rPr>
              <a:t> to control the fan, asks for a full shutdown, while the room is still overheating.</a:t>
            </a:r>
            <a:endParaRPr lang="en-US" sz="1250" dirty="0"/>
          </a:p>
        </p:txBody>
      </p:sp>
      <p:sp>
        <p:nvSpPr>
          <p:cNvPr id="11" name="Shape 9"/>
          <p:cNvSpPr/>
          <p:nvPr/>
        </p:nvSpPr>
        <p:spPr>
          <a:xfrm>
            <a:off x="685800" y="4343400"/>
            <a:ext cx="10820095" cy="10973"/>
          </a:xfrm>
          <a:prstGeom prst="rect">
            <a:avLst/>
          </a:prstGeom>
          <a:solidFill>
            <a:srgbClr val="232220"/>
          </a:solidFill>
          <a:ln/>
        </p:spPr>
      </p:sp>
      <p:sp>
        <p:nvSpPr>
          <p:cNvPr id="12" name="Shape 10"/>
          <p:cNvSpPr/>
          <p:nvPr/>
        </p:nvSpPr>
        <p:spPr>
          <a:xfrm>
            <a:off x="521208" y="4498848"/>
            <a:ext cx="32004" cy="384048"/>
          </a:xfrm>
          <a:prstGeom prst="rect">
            <a:avLst/>
          </a:prstGeom>
          <a:solidFill>
            <a:srgbClr val="FF4D00"/>
          </a:solidFill>
          <a:ln/>
        </p:spPr>
      </p:sp>
      <p:sp>
        <p:nvSpPr>
          <p:cNvPr id="13" name="Text 11"/>
          <p:cNvSpPr txBox="1"/>
          <p:nvPr/>
        </p:nvSpPr>
        <p:spPr>
          <a:xfrm>
            <a:off x="685800" y="4471416"/>
            <a:ext cx="640080" cy="411480"/>
          </a:xfrm>
          <a:prstGeom prst="rect">
            <a:avLst/>
          </a:prstGeom>
          <a:noFill/>
          <a:ln/>
        </p:spPr>
        <p:txBody>
          <a:bodyPr wrap="square" lIns="0" tIns="0" rIns="0" bIns="0" rtlCol="0" anchor="ctr"/>
          <a:lstStyle/>
          <a:p>
            <a:pPr indent="0" marL="0">
              <a:buNone/>
            </a:pPr>
            <a:r>
              <a:rPr lang="en-US" sz="1000" dirty="0">
                <a:solidFill>
                  <a:srgbClr val="55534F"/>
                </a:solidFill>
                <a:latin typeface="Courier New" pitchFamily="34" charset="0"/>
                <a:ea typeface="Courier New" pitchFamily="34" charset="-122"/>
                <a:cs typeface="Courier New" pitchFamily="34" charset="-120"/>
              </a:rPr>
              <a:t>04</a:t>
            </a:r>
            <a:endParaRPr lang="en-US" sz="1000" dirty="0"/>
          </a:p>
        </p:txBody>
      </p:sp>
      <p:sp>
        <p:nvSpPr>
          <p:cNvPr id="14" name="Text 12"/>
          <p:cNvSpPr txBox="1"/>
          <p:nvPr/>
        </p:nvSpPr>
        <p:spPr>
          <a:xfrm>
            <a:off x="1463040" y="4471416"/>
            <a:ext cx="2651760" cy="411480"/>
          </a:xfrm>
          <a:prstGeom prst="rect">
            <a:avLst/>
          </a:prstGeom>
          <a:noFill/>
          <a:ln/>
        </p:spPr>
        <p:txBody>
          <a:bodyPr wrap="square" lIns="0" tIns="0" rIns="0" bIns="0" rtlCol="0" anchor="ctr"/>
          <a:lstStyle/>
          <a:p>
            <a:pPr indent="0" marL="0">
              <a:buNone/>
            </a:pPr>
            <a:r>
              <a:rPr lang="en-US" sz="1050" dirty="0">
                <a:solidFill>
                  <a:srgbClr val="97948E"/>
                </a:solidFill>
                <a:latin typeface="Courier New" pitchFamily="34" charset="0"/>
                <a:ea typeface="Courier New" pitchFamily="34" charset="-122"/>
                <a:cs typeface="Courier New" pitchFamily="34" charset="-120"/>
              </a:rPr>
              <a:t>power-agent-01</a:t>
            </a:r>
            <a:endParaRPr lang="en-US" sz="1050" dirty="0"/>
          </a:p>
        </p:txBody>
      </p:sp>
      <p:sp>
        <p:nvSpPr>
          <p:cNvPr id="15" name="Text 13"/>
          <p:cNvSpPr txBox="1"/>
          <p:nvPr/>
        </p:nvSpPr>
        <p:spPr>
          <a:xfrm>
            <a:off x="4343400" y="4471416"/>
            <a:ext cx="4206240" cy="411480"/>
          </a:xfrm>
          <a:prstGeom prst="rect">
            <a:avLst/>
          </a:prstGeom>
          <a:noFill/>
          <a:ln/>
        </p:spPr>
        <p:txBody>
          <a:bodyPr wrap="square" lIns="0" tIns="0" rIns="0" bIns="0" rtlCol="0" anchor="ctr"/>
          <a:lstStyle/>
          <a:p>
            <a:pPr indent="0" marL="0">
              <a:buNone/>
            </a:pPr>
            <a:r>
              <a:rPr lang="en-US" sz="1600" dirty="0">
                <a:solidFill>
                  <a:srgbClr val="EDEAE4"/>
                </a:solidFill>
                <a:latin typeface="Arial" pitchFamily="34" charset="0"/>
                <a:ea typeface="Arial" pitchFamily="34" charset="-122"/>
                <a:cs typeface="Arial" pitchFamily="34" charset="-120"/>
              </a:rPr>
              <a:t>fan_speed </a:t>
            </a:r>
            <a:pPr indent="0" marL="0">
              <a:buNone/>
            </a:pPr>
            <a:r>
              <a:rPr lang="en-US" sz="1600" b="1" dirty="0">
                <a:solidFill>
                  <a:srgbClr val="FF4D00"/>
                </a:solidFill>
                <a:latin typeface="Arial" pitchFamily="34" charset="0"/>
                <a:ea typeface="Arial" pitchFamily="34" charset="-122"/>
                <a:cs typeface="Arial" pitchFamily="34" charset="-120"/>
              </a:rPr>
              <a:t>0%</a:t>
            </a:r>
            <a:endParaRPr lang="en-US" sz="1600" dirty="0"/>
          </a:p>
        </p:txBody>
      </p:sp>
      <p:sp>
        <p:nvSpPr>
          <p:cNvPr id="16" name="Text 14"/>
          <p:cNvSpPr txBox="1"/>
          <p:nvPr/>
        </p:nvSpPr>
        <p:spPr>
          <a:xfrm>
            <a:off x="9128455" y="4471416"/>
            <a:ext cx="2377440" cy="411480"/>
          </a:xfrm>
          <a:prstGeom prst="rect">
            <a:avLst/>
          </a:prstGeom>
          <a:noFill/>
          <a:ln/>
        </p:spPr>
        <p:txBody>
          <a:bodyPr wrap="square" lIns="0" tIns="0" rIns="0" bIns="0" rtlCol="0" anchor="ctr"/>
          <a:lstStyle/>
          <a:p>
            <a:pPr algn="r" indent="0" marL="0">
              <a:buNone/>
            </a:pPr>
            <a:r>
              <a:rPr lang="en-US" sz="1050" spc="500" kern="0" dirty="0">
                <a:solidFill>
                  <a:srgbClr val="FF4D00"/>
                </a:solidFill>
                <a:latin typeface="Courier New" pitchFamily="34" charset="0"/>
                <a:ea typeface="Courier New" pitchFamily="34" charset="-122"/>
                <a:cs typeface="Courier New" pitchFamily="34" charset="-120"/>
              </a:rPr>
              <a:t>HOLD</a:t>
            </a:r>
            <a:endParaRPr lang="en-US" sz="1050" dirty="0"/>
          </a:p>
        </p:txBody>
      </p:sp>
      <p:sp>
        <p:nvSpPr>
          <p:cNvPr id="17" name="Text 15"/>
          <p:cNvSpPr txBox="1"/>
          <p:nvPr/>
        </p:nvSpPr>
        <p:spPr>
          <a:xfrm>
            <a:off x="685800" y="5056632"/>
            <a:ext cx="9601200" cy="274320"/>
          </a:xfrm>
          <a:prstGeom prst="rect">
            <a:avLst/>
          </a:prstGeom>
          <a:noFill/>
          <a:ln/>
        </p:spPr>
        <p:txBody>
          <a:bodyPr wrap="square" lIns="0" tIns="0" rIns="0" bIns="0" rtlCol="0" anchor="ctr"/>
          <a:lstStyle/>
          <a:p>
            <a:pPr indent="0" marL="0">
              <a:buNone/>
            </a:pPr>
            <a:r>
              <a:rPr lang="en-US" sz="900" spc="100" kern="0" dirty="0">
                <a:solidFill>
                  <a:srgbClr val="55534F"/>
                </a:solidFill>
                <a:latin typeface="Courier New" pitchFamily="34" charset="0"/>
                <a:ea typeface="Courier New" pitchFamily="34" charset="-122"/>
                <a:cs typeface="Courier New" pitchFamily="34" charset="-120"/>
              </a:rPr>
              <a:t>no rule was broken / the danger is in what normal was, not in what is technically allowed</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685800" y="292608"/>
            <a:ext cx="5029200" cy="274320"/>
          </a:xfrm>
          <a:prstGeom prst="rect">
            <a:avLst/>
          </a:prstGeom>
          <a:noFill/>
          <a:ln/>
        </p:spPr>
        <p:txBody>
          <a:bodyPr wrap="square" lIns="0" tIns="0" rIns="0" bIns="0" rtlCol="0" anchor="ctr"/>
          <a:lstStyle/>
          <a:p>
            <a:pPr indent="0" marL="0">
              <a:buNone/>
            </a:pPr>
            <a:r>
              <a:rPr lang="en-US" sz="850" spc="200" kern="0" dirty="0">
                <a:solidFill>
                  <a:srgbClr val="55534F"/>
                </a:solidFill>
                <a:latin typeface="Courier New" pitchFamily="34" charset="0"/>
                <a:ea typeface="Courier New" pitchFamily="34" charset="-122"/>
                <a:cs typeface="Courier New" pitchFamily="34" charset="-120"/>
              </a:rPr>
              <a:t>DN HACKS '26  /  DEFENSE TRACK</a:t>
            </a:r>
            <a:endParaRPr lang="en-US" sz="850" dirty="0"/>
          </a:p>
        </p:txBody>
      </p:sp>
      <p:sp>
        <p:nvSpPr>
          <p:cNvPr id="3" name="Text 1"/>
          <p:cNvSpPr txBox="1"/>
          <p:nvPr/>
        </p:nvSpPr>
        <p:spPr>
          <a:xfrm>
            <a:off x="7848295" y="292608"/>
            <a:ext cx="3657600" cy="274320"/>
          </a:xfrm>
          <a:prstGeom prst="rect">
            <a:avLst/>
          </a:prstGeom>
          <a:noFill/>
          <a:ln/>
        </p:spPr>
        <p:txBody>
          <a:bodyPr wrap="square" lIns="0" tIns="0" rIns="0" bIns="0" rtlCol="0" anchor="ctr"/>
          <a:lstStyle/>
          <a:p>
            <a:pPr algn="r" indent="0" marL="0">
              <a:buNone/>
            </a:pPr>
            <a:r>
              <a:rPr lang="en-US" sz="850" spc="200" kern="0" dirty="0">
                <a:solidFill>
                  <a:srgbClr val="55534F"/>
                </a:solidFill>
                <a:latin typeface="Courier New" pitchFamily="34" charset="0"/>
                <a:ea typeface="Courier New" pitchFamily="34" charset="-122"/>
                <a:cs typeface="Courier New" pitchFamily="34" charset="-120"/>
              </a:rPr>
              <a:t>ALICE / DCAMR</a:t>
            </a:r>
            <a:endParaRPr lang="en-US" sz="850" dirty="0"/>
          </a:p>
        </p:txBody>
      </p:sp>
      <p:sp>
        <p:nvSpPr>
          <p:cNvPr id="4" name="Shape 2"/>
          <p:cNvSpPr/>
          <p:nvPr/>
        </p:nvSpPr>
        <p:spPr>
          <a:xfrm>
            <a:off x="685800" y="6382512"/>
            <a:ext cx="10820095" cy="10973"/>
          </a:xfrm>
          <a:prstGeom prst="rect">
            <a:avLst/>
          </a:prstGeom>
          <a:solidFill>
            <a:srgbClr val="232220"/>
          </a:solidFill>
          <a:ln/>
        </p:spPr>
      </p:sp>
      <p:sp>
        <p:nvSpPr>
          <p:cNvPr id="5" name="Text 3"/>
          <p:cNvSpPr txBox="1"/>
          <p:nvPr/>
        </p:nvSpPr>
        <p:spPr>
          <a:xfrm>
            <a:off x="685800" y="6473952"/>
            <a:ext cx="5486400" cy="274320"/>
          </a:xfrm>
          <a:prstGeom prst="rect">
            <a:avLst/>
          </a:prstGeom>
          <a:noFill/>
          <a:ln/>
        </p:spPr>
        <p:txBody>
          <a:bodyPr wrap="square" lIns="0" tIns="0" rIns="0" bIns="0" rtlCol="0" anchor="ctr"/>
          <a:lstStyle/>
          <a:p>
            <a:pPr indent="0" marL="0">
              <a:buNone/>
            </a:pPr>
            <a:r>
              <a:rPr lang="en-US" sz="750" spc="200" kern="0" dirty="0">
                <a:solidFill>
                  <a:srgbClr val="55534F"/>
                </a:solidFill>
                <a:latin typeface="Courier New" pitchFamily="34" charset="0"/>
                <a:ea typeface="Courier New" pitchFamily="34" charset="-122"/>
                <a:cs typeface="Courier New" pitchFamily="34" charset="-120"/>
              </a:rPr>
              <a:t>STATION DC  /  38.9072 N, 77.0369 W</a:t>
            </a:r>
            <a:endParaRPr lang="en-US" sz="750" dirty="0"/>
          </a:p>
        </p:txBody>
      </p:sp>
      <p:sp>
        <p:nvSpPr>
          <p:cNvPr id="6" name="Text 4"/>
          <p:cNvSpPr txBox="1"/>
          <p:nvPr/>
        </p:nvSpPr>
        <p:spPr>
          <a:xfrm>
            <a:off x="9677095" y="6473952"/>
            <a:ext cx="1828800" cy="274320"/>
          </a:xfrm>
          <a:prstGeom prst="rect">
            <a:avLst/>
          </a:prstGeom>
          <a:noFill/>
          <a:ln/>
        </p:spPr>
        <p:txBody>
          <a:bodyPr wrap="square" lIns="0" tIns="0" rIns="0" bIns="0" rtlCol="0" anchor="ctr"/>
          <a:lstStyle/>
          <a:p>
            <a:pPr algn="r" indent="0" marL="0">
              <a:buNone/>
            </a:pPr>
            <a:r>
              <a:rPr lang="en-US" sz="750" spc="200" kern="0" dirty="0">
                <a:solidFill>
                  <a:srgbClr val="55534F"/>
                </a:solidFill>
                <a:latin typeface="Courier New" pitchFamily="34" charset="0"/>
                <a:ea typeface="Courier New" pitchFamily="34" charset="-122"/>
                <a:cs typeface="Courier New" pitchFamily="34" charset="-120"/>
              </a:rPr>
              <a:t>07 / 10</a:t>
            </a:r>
            <a:endParaRPr lang="en-US" sz="750" dirty="0"/>
          </a:p>
        </p:txBody>
      </p:sp>
      <p:sp>
        <p:nvSpPr>
          <p:cNvPr id="7" name="Text 5"/>
          <p:cNvSpPr txBox="1"/>
          <p:nvPr/>
        </p:nvSpPr>
        <p:spPr>
          <a:xfrm>
            <a:off x="8396935" y="566928"/>
            <a:ext cx="3108960" cy="2011680"/>
          </a:xfrm>
          <a:prstGeom prst="rect">
            <a:avLst/>
          </a:prstGeom>
          <a:noFill/>
          <a:ln/>
        </p:spPr>
        <p:txBody>
          <a:bodyPr wrap="square" lIns="0" tIns="0" rIns="0" bIns="0" rtlCol="0" anchor="ctr"/>
          <a:lstStyle/>
          <a:p>
            <a:pPr algn="r" indent="0" marL="0">
              <a:buNone/>
            </a:pPr>
            <a:r>
              <a:rPr lang="en-US" sz="12000" b="1" dirty="0">
                <a:ln w="15240">
                  <a:solidFill>
                    <a:srgbClr val="262524"/>
                  </a:solidFill>
                </a:ln>
                <a:solidFill>
                  <a:srgbClr val="0B0B0A"/>
                </a:solidFill>
                <a:latin typeface="Arial" pitchFamily="34" charset="0"/>
                <a:ea typeface="Arial" pitchFamily="34" charset="-122"/>
                <a:cs typeface="Arial" pitchFamily="34" charset="-120"/>
              </a:rPr>
              <a:t>06</a:t>
            </a:r>
            <a:endParaRPr lang="en-US" sz="12000" dirty="0"/>
          </a:p>
        </p:txBody>
      </p:sp>
      <p:sp>
        <p:nvSpPr>
          <p:cNvPr id="8" name="Text 6"/>
          <p:cNvSpPr txBox="1"/>
          <p:nvPr/>
        </p:nvSpPr>
        <p:spPr>
          <a:xfrm>
            <a:off x="685800" y="1234440"/>
            <a:ext cx="6400800" cy="320040"/>
          </a:xfrm>
          <a:prstGeom prst="rect">
            <a:avLst/>
          </a:prstGeom>
          <a:noFill/>
          <a:ln/>
        </p:spPr>
        <p:txBody>
          <a:bodyPr wrap="square" lIns="0" tIns="0" rIns="0" bIns="0" rtlCol="0" anchor="ctr"/>
          <a:lstStyle/>
          <a:p>
            <a:pPr indent="0" marL="0">
              <a:buNone/>
            </a:pPr>
            <a:r>
              <a:rPr lang="en-US" sz="1050" spc="400" kern="0" dirty="0">
                <a:solidFill>
                  <a:srgbClr val="55534F"/>
                </a:solidFill>
                <a:latin typeface="Courier New" pitchFamily="34" charset="0"/>
                <a:ea typeface="Courier New" pitchFamily="34" charset="-122"/>
                <a:cs typeface="Courier New" pitchFamily="34" charset="-120"/>
              </a:rPr>
              <a:t>// </a:t>
            </a:r>
            <a:pPr indent="0" marL="0">
              <a:buNone/>
            </a:pPr>
            <a:r>
              <a:rPr lang="en-US" sz="1050" spc="400" kern="0" dirty="0">
                <a:solidFill>
                  <a:srgbClr val="FF4D00"/>
                </a:solidFill>
                <a:latin typeface="Courier New" pitchFamily="34" charset="0"/>
                <a:ea typeface="Courier New" pitchFamily="34" charset="-122"/>
                <a:cs typeface="Courier New" pitchFamily="34" charset="-120"/>
              </a:rPr>
              <a:t>THE ARBITER</a:t>
            </a:r>
            <a:endParaRPr lang="en-US" sz="1050" dirty="0"/>
          </a:p>
        </p:txBody>
      </p:sp>
      <p:sp>
        <p:nvSpPr>
          <p:cNvPr id="9" name="Text 7"/>
          <p:cNvSpPr txBox="1"/>
          <p:nvPr/>
        </p:nvSpPr>
        <p:spPr>
          <a:xfrm>
            <a:off x="685800" y="1645920"/>
            <a:ext cx="9601200" cy="2011680"/>
          </a:xfrm>
          <a:prstGeom prst="rect">
            <a:avLst/>
          </a:prstGeom>
          <a:noFill/>
          <a:ln/>
        </p:spPr>
        <p:txBody>
          <a:bodyPr wrap="square" lIns="0" tIns="0" rIns="0" bIns="0" rtlCol="0" anchor="ctr"/>
          <a:lstStyle/>
          <a:p>
            <a:pPr indent="0" marL="0">
              <a:lnSpc>
                <a:spcPct val="100000"/>
              </a:lnSpc>
              <a:buNone/>
            </a:pPr>
            <a:r>
              <a:rPr lang="en-US" sz="3800" b="1" spc="-100" kern="0" dirty="0">
                <a:solidFill>
                  <a:srgbClr val="EDEAE4"/>
                </a:solidFill>
                <a:latin typeface="Arial" pitchFamily="34" charset="0"/>
                <a:ea typeface="Arial" pitchFamily="34" charset="-122"/>
                <a:cs typeface="Arial" pitchFamily="34" charset="-120"/>
              </a:rPr>
              <a:t>DCAMR watches the pattern,</a:t>
            </a:r>
            <a:endParaRPr lang="en-US" sz="3800" dirty="0"/>
          </a:p>
          <a:p>
            <a:pPr indent="0" marL="0">
              <a:lnSpc>
                <a:spcPct val="100000"/>
              </a:lnSpc>
              <a:buNone/>
            </a:pPr>
            <a:r>
              <a:rPr lang="en-US" sz="3800" b="1" spc="-100" kern="0" dirty="0">
                <a:solidFill>
                  <a:srgbClr val="EDEAE4"/>
                </a:solidFill>
                <a:latin typeface="Arial" pitchFamily="34" charset="0"/>
                <a:ea typeface="Arial" pitchFamily="34" charset="-122"/>
                <a:cs typeface="Arial" pitchFamily="34" charset="-120"/>
              </a:rPr>
              <a:t>not just the rule.</a:t>
            </a:r>
            <a:endParaRPr lang="en-US" sz="3800" dirty="0"/>
          </a:p>
        </p:txBody>
      </p:sp>
      <p:sp>
        <p:nvSpPr>
          <p:cNvPr id="10" name="Text 8"/>
          <p:cNvSpPr txBox="1"/>
          <p:nvPr/>
        </p:nvSpPr>
        <p:spPr>
          <a:xfrm>
            <a:off x="685800" y="3246120"/>
            <a:ext cx="6949440" cy="868680"/>
          </a:xfrm>
          <a:prstGeom prst="rect">
            <a:avLst/>
          </a:prstGeom>
          <a:noFill/>
          <a:ln/>
        </p:spPr>
        <p:txBody>
          <a:bodyPr wrap="square" lIns="0" tIns="0" rIns="0" bIns="0" rtlCol="0" anchor="ctr"/>
          <a:lstStyle/>
          <a:p>
            <a:pPr indent="0" marL="0">
              <a:lnSpc>
                <a:spcPct val="125000"/>
              </a:lnSpc>
              <a:buNone/>
            </a:pPr>
            <a:r>
              <a:rPr lang="en-US" sz="1250" dirty="0">
                <a:solidFill>
                  <a:srgbClr val="97948E"/>
                </a:solidFill>
                <a:latin typeface="Arial" pitchFamily="34" charset="0"/>
                <a:ea typeface="Arial" pitchFamily="34" charset="-122"/>
                <a:cs typeface="Arial" pitchFamily="34" charset="-120"/>
              </a:rPr>
              <a:t>A local behavioral baseline runs on the same disconnected network, scoring each request against </a:t>
            </a:r>
            <a:pPr indent="0" marL="0">
              <a:lnSpc>
                <a:spcPct val="125000"/>
              </a:lnSpc>
              <a:buNone/>
            </a:pPr>
            <a:r>
              <a:rPr lang="en-US" sz="1250" b="1" dirty="0">
                <a:solidFill>
                  <a:srgbClr val="EDEAE4"/>
                </a:solidFill>
                <a:latin typeface="Arial" pitchFamily="34" charset="0"/>
                <a:ea typeface="Arial" pitchFamily="34" charset="-122"/>
                <a:cs typeface="Arial" pitchFamily="34" charset="-120"/>
              </a:rPr>
              <a:t>what has actually been happening</a:t>
            </a:r>
            <a:pPr indent="0" marL="0">
              <a:lnSpc>
                <a:spcPct val="125000"/>
              </a:lnSpc>
              <a:buNone/>
            </a:pPr>
            <a:r>
              <a:rPr lang="en-US" sz="1250" dirty="0">
                <a:solidFill>
                  <a:srgbClr val="97948E"/>
                </a:solidFill>
                <a:latin typeface="Arial" pitchFamily="34" charset="0"/>
                <a:ea typeface="Arial" pitchFamily="34" charset="-122"/>
                <a:cs typeface="Arial" pitchFamily="34" charset="-120"/>
              </a:rPr>
              <a:t>. Zero cloud dependency.</a:t>
            </a:r>
            <a:endParaRPr lang="en-US" sz="1250" dirty="0"/>
          </a:p>
        </p:txBody>
      </p:sp>
      <p:sp>
        <p:nvSpPr>
          <p:cNvPr id="11" name="Shape 9"/>
          <p:cNvSpPr/>
          <p:nvPr/>
        </p:nvSpPr>
        <p:spPr>
          <a:xfrm>
            <a:off x="685800" y="4572000"/>
            <a:ext cx="2286000" cy="530352"/>
          </a:xfrm>
          <a:prstGeom prst="rect">
            <a:avLst/>
          </a:prstGeom>
          <a:solidFill>
            <a:srgbClr val="0B0B0A"/>
          </a:solidFill>
          <a:ln w="12700">
            <a:solidFill>
              <a:srgbClr val="262524"/>
            </a:solidFill>
            <a:prstDash val="solid"/>
          </a:ln>
        </p:spPr>
      </p:sp>
      <p:sp>
        <p:nvSpPr>
          <p:cNvPr id="12" name="Text 10"/>
          <p:cNvSpPr txBox="1"/>
          <p:nvPr/>
        </p:nvSpPr>
        <p:spPr>
          <a:xfrm>
            <a:off x="685800" y="4572000"/>
            <a:ext cx="2286000" cy="530352"/>
          </a:xfrm>
          <a:prstGeom prst="rect">
            <a:avLst/>
          </a:prstGeom>
          <a:noFill/>
          <a:ln/>
        </p:spPr>
        <p:txBody>
          <a:bodyPr wrap="square" lIns="0" tIns="0" rIns="0" bIns="0" rtlCol="0" anchor="ctr"/>
          <a:lstStyle/>
          <a:p>
            <a:pPr algn="ctr" indent="0" marL="0">
              <a:buNone/>
            </a:pPr>
            <a:r>
              <a:rPr lang="en-US" sz="1050" spc="50" kern="0" dirty="0">
                <a:solidFill>
                  <a:srgbClr val="97948E"/>
                </a:solidFill>
                <a:latin typeface="Courier New" pitchFamily="34" charset="0"/>
                <a:ea typeface="Courier New" pitchFamily="34" charset="-122"/>
                <a:cs typeface="Courier New" pitchFamily="34" charset="-120"/>
              </a:rPr>
              <a:t>history: 3 x +10%</a:t>
            </a:r>
            <a:endParaRPr lang="en-US" sz="1050" dirty="0"/>
          </a:p>
        </p:txBody>
      </p:sp>
      <p:sp>
        <p:nvSpPr>
          <p:cNvPr id="13" name="Shape 11"/>
          <p:cNvSpPr/>
          <p:nvPr/>
        </p:nvSpPr>
        <p:spPr>
          <a:xfrm>
            <a:off x="3017520" y="4831690"/>
            <a:ext cx="411480" cy="10973"/>
          </a:xfrm>
          <a:prstGeom prst="rect">
            <a:avLst/>
          </a:prstGeom>
          <a:solidFill>
            <a:srgbClr val="262524"/>
          </a:solidFill>
          <a:ln/>
        </p:spPr>
      </p:sp>
      <p:sp>
        <p:nvSpPr>
          <p:cNvPr id="14" name="Shape 12"/>
          <p:cNvSpPr/>
          <p:nvPr/>
        </p:nvSpPr>
        <p:spPr>
          <a:xfrm>
            <a:off x="3474720" y="4572000"/>
            <a:ext cx="2468880" cy="530352"/>
          </a:xfrm>
          <a:prstGeom prst="rect">
            <a:avLst/>
          </a:prstGeom>
          <a:solidFill>
            <a:srgbClr val="0B0B0A"/>
          </a:solidFill>
          <a:ln w="12700">
            <a:solidFill>
              <a:srgbClr val="262524"/>
            </a:solidFill>
            <a:prstDash val="solid"/>
          </a:ln>
        </p:spPr>
      </p:sp>
      <p:sp>
        <p:nvSpPr>
          <p:cNvPr id="15" name="Text 13"/>
          <p:cNvSpPr txBox="1"/>
          <p:nvPr/>
        </p:nvSpPr>
        <p:spPr>
          <a:xfrm>
            <a:off x="3474720" y="4572000"/>
            <a:ext cx="2468880" cy="530352"/>
          </a:xfrm>
          <a:prstGeom prst="rect">
            <a:avLst/>
          </a:prstGeom>
          <a:noFill/>
          <a:ln/>
        </p:spPr>
        <p:txBody>
          <a:bodyPr wrap="square" lIns="0" tIns="0" rIns="0" bIns="0" rtlCol="0" anchor="ctr"/>
          <a:lstStyle/>
          <a:p>
            <a:pPr algn="ctr" indent="0" marL="0">
              <a:buNone/>
            </a:pPr>
            <a:r>
              <a:rPr lang="en-US" sz="1050" spc="50" kern="0" dirty="0">
                <a:solidFill>
                  <a:srgbClr val="97948E"/>
                </a:solidFill>
                <a:latin typeface="Courier New" pitchFamily="34" charset="0"/>
                <a:ea typeface="Courier New" pitchFamily="34" charset="-122"/>
                <a:cs typeface="Courier New" pitchFamily="34" charset="-120"/>
              </a:rPr>
              <a:t>power-agent-01: 0%</a:t>
            </a:r>
            <a:endParaRPr lang="en-US" sz="1050" dirty="0"/>
          </a:p>
        </p:txBody>
      </p:sp>
      <p:sp>
        <p:nvSpPr>
          <p:cNvPr id="16" name="Shape 14"/>
          <p:cNvSpPr/>
          <p:nvPr/>
        </p:nvSpPr>
        <p:spPr>
          <a:xfrm>
            <a:off x="5989320" y="4831690"/>
            <a:ext cx="411480" cy="10973"/>
          </a:xfrm>
          <a:prstGeom prst="rect">
            <a:avLst/>
          </a:prstGeom>
          <a:solidFill>
            <a:srgbClr val="262524"/>
          </a:solidFill>
          <a:ln/>
        </p:spPr>
      </p:sp>
      <p:sp>
        <p:nvSpPr>
          <p:cNvPr id="17" name="Shape 15"/>
          <p:cNvSpPr/>
          <p:nvPr/>
        </p:nvSpPr>
        <p:spPr>
          <a:xfrm>
            <a:off x="6446520" y="4572000"/>
            <a:ext cx="1234440" cy="530352"/>
          </a:xfrm>
          <a:prstGeom prst="rect">
            <a:avLst/>
          </a:prstGeom>
          <a:solidFill>
            <a:srgbClr val="0B0B0A"/>
          </a:solidFill>
          <a:ln w="19050">
            <a:solidFill>
              <a:srgbClr val="FF4D00"/>
            </a:solidFill>
            <a:prstDash val="solid"/>
          </a:ln>
        </p:spPr>
      </p:sp>
      <p:sp>
        <p:nvSpPr>
          <p:cNvPr id="18" name="Text 16"/>
          <p:cNvSpPr txBox="1"/>
          <p:nvPr/>
        </p:nvSpPr>
        <p:spPr>
          <a:xfrm>
            <a:off x="6446520" y="4572000"/>
            <a:ext cx="1234440" cy="530352"/>
          </a:xfrm>
          <a:prstGeom prst="rect">
            <a:avLst/>
          </a:prstGeom>
          <a:noFill/>
          <a:ln/>
        </p:spPr>
        <p:txBody>
          <a:bodyPr wrap="square" lIns="0" tIns="0" rIns="0" bIns="0" rtlCol="0" anchor="ctr"/>
          <a:lstStyle/>
          <a:p>
            <a:pPr algn="ctr" indent="0" marL="0">
              <a:buNone/>
            </a:pPr>
            <a:r>
              <a:rPr lang="en-US" sz="1050" b="1" spc="400" kern="0" dirty="0">
                <a:solidFill>
                  <a:srgbClr val="FF4D00"/>
                </a:solidFill>
                <a:latin typeface="Courier New" pitchFamily="34" charset="0"/>
                <a:ea typeface="Courier New" pitchFamily="34" charset="-122"/>
                <a:cs typeface="Courier New" pitchFamily="34" charset="-120"/>
              </a:rPr>
              <a:t>HOLD</a:t>
            </a:r>
            <a:endParaRPr lang="en-US" sz="1050" dirty="0"/>
          </a:p>
        </p:txBody>
      </p:sp>
      <p:sp>
        <p:nvSpPr>
          <p:cNvPr id="19" name="Shape 17"/>
          <p:cNvSpPr/>
          <p:nvPr/>
        </p:nvSpPr>
        <p:spPr>
          <a:xfrm>
            <a:off x="7726680" y="4831690"/>
            <a:ext cx="411480" cy="10973"/>
          </a:xfrm>
          <a:prstGeom prst="rect">
            <a:avLst/>
          </a:prstGeom>
          <a:solidFill>
            <a:srgbClr val="262524"/>
          </a:solidFill>
          <a:ln/>
        </p:spPr>
      </p:sp>
      <p:sp>
        <p:nvSpPr>
          <p:cNvPr id="20" name="Shape 18"/>
          <p:cNvSpPr/>
          <p:nvPr/>
        </p:nvSpPr>
        <p:spPr>
          <a:xfrm>
            <a:off x="8183880" y="4572000"/>
            <a:ext cx="1600200" cy="530352"/>
          </a:xfrm>
          <a:prstGeom prst="rect">
            <a:avLst/>
          </a:prstGeom>
          <a:solidFill>
            <a:srgbClr val="0B0B0A"/>
          </a:solidFill>
          <a:ln w="12700">
            <a:solidFill>
              <a:srgbClr val="262524"/>
            </a:solidFill>
            <a:prstDash val="solid"/>
          </a:ln>
        </p:spPr>
      </p:sp>
      <p:sp>
        <p:nvSpPr>
          <p:cNvPr id="21" name="Text 19"/>
          <p:cNvSpPr txBox="1"/>
          <p:nvPr/>
        </p:nvSpPr>
        <p:spPr>
          <a:xfrm>
            <a:off x="8183880" y="4572000"/>
            <a:ext cx="1600200" cy="530352"/>
          </a:xfrm>
          <a:prstGeom prst="rect">
            <a:avLst/>
          </a:prstGeom>
          <a:noFill/>
          <a:ln/>
        </p:spPr>
        <p:txBody>
          <a:bodyPr wrap="square" lIns="0" tIns="0" rIns="0" bIns="0" rtlCol="0" anchor="ctr"/>
          <a:lstStyle/>
          <a:p>
            <a:pPr algn="ctr" indent="0" marL="0">
              <a:buNone/>
            </a:pPr>
            <a:r>
              <a:rPr lang="en-US" sz="1050" spc="50" kern="0" dirty="0">
                <a:solidFill>
                  <a:srgbClr val="97948E"/>
                </a:solidFill>
                <a:latin typeface="Courier New" pitchFamily="34" charset="0"/>
                <a:ea typeface="Courier New" pitchFamily="34" charset="-122"/>
                <a:cs typeface="Courier New" pitchFamily="34" charset="-120"/>
              </a:rPr>
              <a:t>technician</a:t>
            </a:r>
            <a:endParaRPr lang="en-US" sz="1050" dirty="0"/>
          </a:p>
        </p:txBody>
      </p:sp>
      <p:sp>
        <p:nvSpPr>
          <p:cNvPr id="22" name="Text 20"/>
          <p:cNvSpPr txBox="1"/>
          <p:nvPr/>
        </p:nvSpPr>
        <p:spPr>
          <a:xfrm>
            <a:off x="685800" y="5440680"/>
            <a:ext cx="8229600" cy="274320"/>
          </a:xfrm>
          <a:prstGeom prst="rect">
            <a:avLst/>
          </a:prstGeom>
          <a:noFill/>
          <a:ln/>
        </p:spPr>
        <p:txBody>
          <a:bodyPr wrap="square" lIns="0" tIns="0" rIns="0" bIns="0" rtlCol="0" anchor="ctr"/>
          <a:lstStyle/>
          <a:p>
            <a:pPr indent="0" marL="0">
              <a:buNone/>
            </a:pPr>
            <a:r>
              <a:rPr lang="en-US" sz="950" spc="100" kern="0" dirty="0">
                <a:solidFill>
                  <a:srgbClr val="55534F"/>
                </a:solidFill>
                <a:latin typeface="Courier New" pitchFamily="34" charset="0"/>
                <a:ea typeface="Courier New" pitchFamily="34" charset="-122"/>
                <a:cs typeface="Courier New" pitchFamily="34" charset="-120"/>
              </a:rPr>
              <a:t>everything above happens with the network </a:t>
            </a:r>
            <a:pPr indent="0" marL="0">
              <a:buNone/>
            </a:pPr>
            <a:r>
              <a:rPr lang="en-US" sz="950" spc="100" kern="0" dirty="0">
                <a:solidFill>
                  <a:srgbClr val="FF4D00"/>
                </a:solidFill>
                <a:latin typeface="Courier New" pitchFamily="34" charset="0"/>
                <a:ea typeface="Courier New" pitchFamily="34" charset="-122"/>
                <a:cs typeface="Courier New" pitchFamily="34" charset="-120"/>
              </a:rPr>
              <a:t>still down</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685800" y="292608"/>
            <a:ext cx="5029200" cy="274320"/>
          </a:xfrm>
          <a:prstGeom prst="rect">
            <a:avLst/>
          </a:prstGeom>
          <a:noFill/>
          <a:ln/>
        </p:spPr>
        <p:txBody>
          <a:bodyPr wrap="square" lIns="0" tIns="0" rIns="0" bIns="0" rtlCol="0" anchor="ctr"/>
          <a:lstStyle/>
          <a:p>
            <a:pPr indent="0" marL="0">
              <a:buNone/>
            </a:pPr>
            <a:r>
              <a:rPr lang="en-US" sz="850" spc="200" kern="0" dirty="0">
                <a:solidFill>
                  <a:srgbClr val="55534F"/>
                </a:solidFill>
                <a:latin typeface="Courier New" pitchFamily="34" charset="0"/>
                <a:ea typeface="Courier New" pitchFamily="34" charset="-122"/>
                <a:cs typeface="Courier New" pitchFamily="34" charset="-120"/>
              </a:rPr>
              <a:t>DN HACKS '26  /  DEFENSE TRACK</a:t>
            </a:r>
            <a:endParaRPr lang="en-US" sz="850" dirty="0"/>
          </a:p>
        </p:txBody>
      </p:sp>
      <p:sp>
        <p:nvSpPr>
          <p:cNvPr id="3" name="Text 1"/>
          <p:cNvSpPr txBox="1"/>
          <p:nvPr/>
        </p:nvSpPr>
        <p:spPr>
          <a:xfrm>
            <a:off x="7848295" y="292608"/>
            <a:ext cx="3657600" cy="274320"/>
          </a:xfrm>
          <a:prstGeom prst="rect">
            <a:avLst/>
          </a:prstGeom>
          <a:noFill/>
          <a:ln/>
        </p:spPr>
        <p:txBody>
          <a:bodyPr wrap="square" lIns="0" tIns="0" rIns="0" bIns="0" rtlCol="0" anchor="ctr"/>
          <a:lstStyle/>
          <a:p>
            <a:pPr algn="r" indent="0" marL="0">
              <a:buNone/>
            </a:pPr>
            <a:r>
              <a:rPr lang="en-US" sz="850" spc="200" kern="0" dirty="0">
                <a:solidFill>
                  <a:srgbClr val="55534F"/>
                </a:solidFill>
                <a:latin typeface="Courier New" pitchFamily="34" charset="0"/>
                <a:ea typeface="Courier New" pitchFamily="34" charset="-122"/>
                <a:cs typeface="Courier New" pitchFamily="34" charset="-120"/>
              </a:rPr>
              <a:t>ALICE / DCAMR</a:t>
            </a:r>
            <a:endParaRPr lang="en-US" sz="850" dirty="0"/>
          </a:p>
        </p:txBody>
      </p:sp>
      <p:sp>
        <p:nvSpPr>
          <p:cNvPr id="4" name="Shape 2"/>
          <p:cNvSpPr/>
          <p:nvPr/>
        </p:nvSpPr>
        <p:spPr>
          <a:xfrm>
            <a:off x="685800" y="6382512"/>
            <a:ext cx="10820095" cy="10973"/>
          </a:xfrm>
          <a:prstGeom prst="rect">
            <a:avLst/>
          </a:prstGeom>
          <a:solidFill>
            <a:srgbClr val="232220"/>
          </a:solidFill>
          <a:ln/>
        </p:spPr>
      </p:sp>
      <p:sp>
        <p:nvSpPr>
          <p:cNvPr id="5" name="Text 3"/>
          <p:cNvSpPr txBox="1"/>
          <p:nvPr/>
        </p:nvSpPr>
        <p:spPr>
          <a:xfrm>
            <a:off x="685800" y="6473952"/>
            <a:ext cx="5486400" cy="274320"/>
          </a:xfrm>
          <a:prstGeom prst="rect">
            <a:avLst/>
          </a:prstGeom>
          <a:noFill/>
          <a:ln/>
        </p:spPr>
        <p:txBody>
          <a:bodyPr wrap="square" lIns="0" tIns="0" rIns="0" bIns="0" rtlCol="0" anchor="ctr"/>
          <a:lstStyle/>
          <a:p>
            <a:pPr indent="0" marL="0">
              <a:buNone/>
            </a:pPr>
            <a:r>
              <a:rPr lang="en-US" sz="750" spc="200" kern="0" dirty="0">
                <a:solidFill>
                  <a:srgbClr val="55534F"/>
                </a:solidFill>
                <a:latin typeface="Courier New" pitchFamily="34" charset="0"/>
                <a:ea typeface="Courier New" pitchFamily="34" charset="-122"/>
                <a:cs typeface="Courier New" pitchFamily="34" charset="-120"/>
              </a:rPr>
              <a:t>STATION DC  /  38.9072 N, 77.0369 W</a:t>
            </a:r>
            <a:endParaRPr lang="en-US" sz="750" dirty="0"/>
          </a:p>
        </p:txBody>
      </p:sp>
      <p:sp>
        <p:nvSpPr>
          <p:cNvPr id="6" name="Text 4"/>
          <p:cNvSpPr txBox="1"/>
          <p:nvPr/>
        </p:nvSpPr>
        <p:spPr>
          <a:xfrm>
            <a:off x="9677095" y="6473952"/>
            <a:ext cx="1828800" cy="274320"/>
          </a:xfrm>
          <a:prstGeom prst="rect">
            <a:avLst/>
          </a:prstGeom>
          <a:noFill/>
          <a:ln/>
        </p:spPr>
        <p:txBody>
          <a:bodyPr wrap="square" lIns="0" tIns="0" rIns="0" bIns="0" rtlCol="0" anchor="ctr"/>
          <a:lstStyle/>
          <a:p>
            <a:pPr algn="r" indent="0" marL="0">
              <a:buNone/>
            </a:pPr>
            <a:r>
              <a:rPr lang="en-US" sz="750" spc="200" kern="0" dirty="0">
                <a:solidFill>
                  <a:srgbClr val="55534F"/>
                </a:solidFill>
                <a:latin typeface="Courier New" pitchFamily="34" charset="0"/>
                <a:ea typeface="Courier New" pitchFamily="34" charset="-122"/>
                <a:cs typeface="Courier New" pitchFamily="34" charset="-120"/>
              </a:rPr>
              <a:t>08 / 10</a:t>
            </a:r>
            <a:endParaRPr lang="en-US" sz="750" dirty="0"/>
          </a:p>
        </p:txBody>
      </p:sp>
      <p:sp>
        <p:nvSpPr>
          <p:cNvPr id="7" name="Text 5"/>
          <p:cNvSpPr txBox="1"/>
          <p:nvPr/>
        </p:nvSpPr>
        <p:spPr>
          <a:xfrm>
            <a:off x="8396935" y="566928"/>
            <a:ext cx="3108960" cy="2011680"/>
          </a:xfrm>
          <a:prstGeom prst="rect">
            <a:avLst/>
          </a:prstGeom>
          <a:noFill/>
          <a:ln/>
        </p:spPr>
        <p:txBody>
          <a:bodyPr wrap="square" lIns="0" tIns="0" rIns="0" bIns="0" rtlCol="0" anchor="ctr"/>
          <a:lstStyle/>
          <a:p>
            <a:pPr algn="r" indent="0" marL="0">
              <a:buNone/>
            </a:pPr>
            <a:r>
              <a:rPr lang="en-US" sz="12000" b="1" dirty="0">
                <a:ln w="15240">
                  <a:solidFill>
                    <a:srgbClr val="262524"/>
                  </a:solidFill>
                </a:ln>
                <a:solidFill>
                  <a:srgbClr val="0B0B0A"/>
                </a:solidFill>
                <a:latin typeface="Arial" pitchFamily="34" charset="0"/>
                <a:ea typeface="Arial" pitchFamily="34" charset="-122"/>
                <a:cs typeface="Arial" pitchFamily="34" charset="-120"/>
              </a:rPr>
              <a:t>07</a:t>
            </a:r>
            <a:endParaRPr lang="en-US" sz="12000" dirty="0"/>
          </a:p>
        </p:txBody>
      </p:sp>
      <p:sp>
        <p:nvSpPr>
          <p:cNvPr id="8" name="Text 6"/>
          <p:cNvSpPr txBox="1"/>
          <p:nvPr/>
        </p:nvSpPr>
        <p:spPr>
          <a:xfrm>
            <a:off x="685800" y="1417320"/>
            <a:ext cx="6400800" cy="320040"/>
          </a:xfrm>
          <a:prstGeom prst="rect">
            <a:avLst/>
          </a:prstGeom>
          <a:noFill/>
          <a:ln/>
        </p:spPr>
        <p:txBody>
          <a:bodyPr wrap="square" lIns="0" tIns="0" rIns="0" bIns="0" rtlCol="0" anchor="ctr"/>
          <a:lstStyle/>
          <a:p>
            <a:pPr indent="0" marL="0">
              <a:buNone/>
            </a:pPr>
            <a:r>
              <a:rPr lang="en-US" sz="1050" spc="400" kern="0" dirty="0">
                <a:solidFill>
                  <a:srgbClr val="55534F"/>
                </a:solidFill>
                <a:latin typeface="Courier New" pitchFamily="34" charset="0"/>
                <a:ea typeface="Courier New" pitchFamily="34" charset="-122"/>
                <a:cs typeface="Courier New" pitchFamily="34" charset="-120"/>
              </a:rPr>
              <a:t>// </a:t>
            </a:r>
            <a:pPr indent="0" marL="0">
              <a:buNone/>
            </a:pPr>
            <a:r>
              <a:rPr lang="en-US" sz="1050" spc="400" kern="0" dirty="0">
                <a:solidFill>
                  <a:srgbClr val="FF4D00"/>
                </a:solidFill>
                <a:latin typeface="Courier New" pitchFamily="34" charset="0"/>
                <a:ea typeface="Courier New" pitchFamily="34" charset="-122"/>
                <a:cs typeface="Courier New" pitchFamily="34" charset="-120"/>
              </a:rPr>
              <a:t>THE HUMAN</a:t>
            </a:r>
            <a:endParaRPr lang="en-US" sz="1050" dirty="0"/>
          </a:p>
        </p:txBody>
      </p:sp>
      <p:sp>
        <p:nvSpPr>
          <p:cNvPr id="9" name="Text 7"/>
          <p:cNvSpPr txBox="1"/>
          <p:nvPr/>
        </p:nvSpPr>
        <p:spPr>
          <a:xfrm>
            <a:off x="685800" y="1828800"/>
            <a:ext cx="9601200" cy="822960"/>
          </a:xfrm>
          <a:prstGeom prst="rect">
            <a:avLst/>
          </a:prstGeom>
          <a:noFill/>
          <a:ln/>
        </p:spPr>
        <p:txBody>
          <a:bodyPr wrap="square" lIns="0" tIns="0" rIns="0" bIns="0" rtlCol="0" anchor="ctr"/>
          <a:lstStyle/>
          <a:p>
            <a:pPr indent="0" marL="0">
              <a:lnSpc>
                <a:spcPct val="100000"/>
              </a:lnSpc>
              <a:buNone/>
            </a:pPr>
            <a:r>
              <a:rPr lang="en-US" sz="3800" b="1" spc="-100" kern="0" dirty="0">
                <a:solidFill>
                  <a:srgbClr val="EDEAE4"/>
                </a:solidFill>
                <a:latin typeface="Arial" pitchFamily="34" charset="0"/>
                <a:ea typeface="Arial" pitchFamily="34" charset="-122"/>
                <a:cs typeface="Arial" pitchFamily="34" charset="-120"/>
              </a:rPr>
              <a:t>A human makes the call.</a:t>
            </a:r>
            <a:endParaRPr lang="en-US" sz="3800" dirty="0"/>
          </a:p>
        </p:txBody>
      </p:sp>
      <p:sp>
        <p:nvSpPr>
          <p:cNvPr id="10" name="Text 8"/>
          <p:cNvSpPr txBox="1"/>
          <p:nvPr/>
        </p:nvSpPr>
        <p:spPr>
          <a:xfrm>
            <a:off x="1508760" y="3063240"/>
            <a:ext cx="9692640" cy="1463040"/>
          </a:xfrm>
          <a:prstGeom prst="rect">
            <a:avLst/>
          </a:prstGeom>
          <a:noFill/>
          <a:ln/>
        </p:spPr>
        <p:txBody>
          <a:bodyPr wrap="square" lIns="0" tIns="0" rIns="0" bIns="0" rtlCol="0" anchor="ctr"/>
          <a:lstStyle/>
          <a:p>
            <a:pPr indent="0" marL="0">
              <a:buNone/>
            </a:pPr>
            <a:r>
              <a:rPr lang="en-US" sz="3800" b="1" i="1" spc="-50" kern="0" dirty="0">
                <a:solidFill>
                  <a:srgbClr val="FF4D00"/>
                </a:solidFill>
                <a:latin typeface="Arial" pitchFamily="34" charset="0"/>
                <a:ea typeface="Arial" pitchFamily="34" charset="-122"/>
                <a:cs typeface="Arial" pitchFamily="34" charset="-120"/>
              </a:rPr>
              <a:t>“Reject.</a:t>
            </a:r>
            <a:pPr indent="0" marL="0">
              <a:buNone/>
            </a:pPr>
            <a:r>
              <a:rPr lang="en-US" sz="3800" i="1" spc="-50" kern="0" dirty="0">
                <a:solidFill>
                  <a:srgbClr val="EDEAE4"/>
                </a:solidFill>
                <a:latin typeface="Arial" pitchFamily="34" charset="0"/>
                <a:ea typeface="Arial" pitchFamily="34" charset="-122"/>
                <a:cs typeface="Arial" pitchFamily="34" charset="-120"/>
              </a:rPr>
              <a:t> It's still too hot to cut the fan.”</a:t>
            </a:r>
            <a:endParaRPr lang="en-US" sz="3800" dirty="0"/>
          </a:p>
        </p:txBody>
      </p:sp>
      <p:sp>
        <p:nvSpPr>
          <p:cNvPr id="11" name="Text 9"/>
          <p:cNvSpPr txBox="1"/>
          <p:nvPr/>
        </p:nvSpPr>
        <p:spPr>
          <a:xfrm>
            <a:off x="1554480" y="4617720"/>
            <a:ext cx="7315200" cy="274320"/>
          </a:xfrm>
          <a:prstGeom prst="rect">
            <a:avLst/>
          </a:prstGeom>
          <a:noFill/>
          <a:ln/>
        </p:spPr>
        <p:txBody>
          <a:bodyPr wrap="square" lIns="0" tIns="0" rIns="0" bIns="0" rtlCol="0" anchor="ctr"/>
          <a:lstStyle/>
          <a:p>
            <a:pPr indent="0" marL="0">
              <a:buNone/>
            </a:pPr>
            <a:r>
              <a:rPr lang="en-US" sz="950" spc="100" kern="0" dirty="0">
                <a:solidFill>
                  <a:srgbClr val="55534F"/>
                </a:solidFill>
                <a:latin typeface="Courier New" pitchFamily="34" charset="0"/>
                <a:ea typeface="Courier New" pitchFamily="34" charset="-122"/>
                <a:cs typeface="Courier New" pitchFamily="34" charset="-120"/>
              </a:rPr>
              <a:t>recorded a41f...9c02 / ed25519 / hash-chained / offline</a:t>
            </a:r>
            <a:endParaRPr lang="en-US" sz="950" dirty="0"/>
          </a:p>
        </p:txBody>
      </p:sp>
      <p:sp>
        <p:nvSpPr>
          <p:cNvPr id="12" name="Text 10"/>
          <p:cNvSpPr txBox="1"/>
          <p:nvPr/>
        </p:nvSpPr>
        <p:spPr>
          <a:xfrm>
            <a:off x="685800" y="5257800"/>
            <a:ext cx="7132320" cy="640080"/>
          </a:xfrm>
          <a:prstGeom prst="rect">
            <a:avLst/>
          </a:prstGeom>
          <a:noFill/>
          <a:ln/>
        </p:spPr>
        <p:txBody>
          <a:bodyPr wrap="square" lIns="0" tIns="0" rIns="0" bIns="0" rtlCol="0" anchor="ctr"/>
          <a:lstStyle/>
          <a:p>
            <a:pPr indent="0" marL="0">
              <a:lnSpc>
                <a:spcPct val="125000"/>
              </a:lnSpc>
              <a:buNone/>
            </a:pPr>
            <a:r>
              <a:rPr lang="en-US" sz="1200" dirty="0">
                <a:solidFill>
                  <a:srgbClr val="97948E"/>
                </a:solidFill>
                <a:latin typeface="Arial" pitchFamily="34" charset="0"/>
                <a:ea typeface="Arial" pitchFamily="34" charset="-122"/>
                <a:cs typeface="Arial" pitchFamily="34" charset="-120"/>
              </a:rPr>
              <a:t>Identity-verified through ALICE, the technician sees the flagged request, the temperature trend, and the last three approvals.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685800" y="292608"/>
            <a:ext cx="5029200" cy="274320"/>
          </a:xfrm>
          <a:prstGeom prst="rect">
            <a:avLst/>
          </a:prstGeom>
          <a:noFill/>
          <a:ln/>
        </p:spPr>
        <p:txBody>
          <a:bodyPr wrap="square" lIns="0" tIns="0" rIns="0" bIns="0" rtlCol="0" anchor="ctr"/>
          <a:lstStyle/>
          <a:p>
            <a:pPr indent="0" marL="0">
              <a:buNone/>
            </a:pPr>
            <a:r>
              <a:rPr lang="en-US" sz="850" spc="200" kern="0" dirty="0">
                <a:solidFill>
                  <a:srgbClr val="55534F"/>
                </a:solidFill>
                <a:latin typeface="Courier New" pitchFamily="34" charset="0"/>
                <a:ea typeface="Courier New" pitchFamily="34" charset="-122"/>
                <a:cs typeface="Courier New" pitchFamily="34" charset="-120"/>
              </a:rPr>
              <a:t>DN HACKS '26  /  DEFENSE TRACK</a:t>
            </a:r>
            <a:endParaRPr lang="en-US" sz="850" dirty="0"/>
          </a:p>
        </p:txBody>
      </p:sp>
      <p:sp>
        <p:nvSpPr>
          <p:cNvPr id="3" name="Text 1"/>
          <p:cNvSpPr txBox="1"/>
          <p:nvPr/>
        </p:nvSpPr>
        <p:spPr>
          <a:xfrm>
            <a:off x="7848295" y="292608"/>
            <a:ext cx="3657600" cy="274320"/>
          </a:xfrm>
          <a:prstGeom prst="rect">
            <a:avLst/>
          </a:prstGeom>
          <a:noFill/>
          <a:ln/>
        </p:spPr>
        <p:txBody>
          <a:bodyPr wrap="square" lIns="0" tIns="0" rIns="0" bIns="0" rtlCol="0" anchor="ctr"/>
          <a:lstStyle/>
          <a:p>
            <a:pPr algn="r" indent="0" marL="0">
              <a:buNone/>
            </a:pPr>
            <a:r>
              <a:rPr lang="en-US" sz="850" spc="200" kern="0" dirty="0">
                <a:solidFill>
                  <a:srgbClr val="55534F"/>
                </a:solidFill>
                <a:latin typeface="Courier New" pitchFamily="34" charset="0"/>
                <a:ea typeface="Courier New" pitchFamily="34" charset="-122"/>
                <a:cs typeface="Courier New" pitchFamily="34" charset="-120"/>
              </a:rPr>
              <a:t>ALICE / DCAMR</a:t>
            </a:r>
            <a:endParaRPr lang="en-US" sz="850" dirty="0"/>
          </a:p>
        </p:txBody>
      </p:sp>
      <p:sp>
        <p:nvSpPr>
          <p:cNvPr id="4" name="Shape 2"/>
          <p:cNvSpPr/>
          <p:nvPr/>
        </p:nvSpPr>
        <p:spPr>
          <a:xfrm>
            <a:off x="685800" y="6382512"/>
            <a:ext cx="10820095" cy="10973"/>
          </a:xfrm>
          <a:prstGeom prst="rect">
            <a:avLst/>
          </a:prstGeom>
          <a:solidFill>
            <a:srgbClr val="232220"/>
          </a:solidFill>
          <a:ln/>
        </p:spPr>
      </p:sp>
      <p:sp>
        <p:nvSpPr>
          <p:cNvPr id="5" name="Text 3"/>
          <p:cNvSpPr txBox="1"/>
          <p:nvPr/>
        </p:nvSpPr>
        <p:spPr>
          <a:xfrm>
            <a:off x="685800" y="6473952"/>
            <a:ext cx="5486400" cy="274320"/>
          </a:xfrm>
          <a:prstGeom prst="rect">
            <a:avLst/>
          </a:prstGeom>
          <a:noFill/>
          <a:ln/>
        </p:spPr>
        <p:txBody>
          <a:bodyPr wrap="square" lIns="0" tIns="0" rIns="0" bIns="0" rtlCol="0" anchor="ctr"/>
          <a:lstStyle/>
          <a:p>
            <a:pPr indent="0" marL="0">
              <a:buNone/>
            </a:pPr>
            <a:r>
              <a:rPr lang="en-US" sz="750" spc="200" kern="0" dirty="0">
                <a:solidFill>
                  <a:srgbClr val="55534F"/>
                </a:solidFill>
                <a:latin typeface="Courier New" pitchFamily="34" charset="0"/>
                <a:ea typeface="Courier New" pitchFamily="34" charset="-122"/>
                <a:cs typeface="Courier New" pitchFamily="34" charset="-120"/>
              </a:rPr>
              <a:t>STATION DC  /  38.9072 N, 77.0369 W</a:t>
            </a:r>
            <a:endParaRPr lang="en-US" sz="750" dirty="0"/>
          </a:p>
        </p:txBody>
      </p:sp>
      <p:sp>
        <p:nvSpPr>
          <p:cNvPr id="6" name="Text 4"/>
          <p:cNvSpPr txBox="1"/>
          <p:nvPr/>
        </p:nvSpPr>
        <p:spPr>
          <a:xfrm>
            <a:off x="9677095" y="6473952"/>
            <a:ext cx="1828800" cy="274320"/>
          </a:xfrm>
          <a:prstGeom prst="rect">
            <a:avLst/>
          </a:prstGeom>
          <a:noFill/>
          <a:ln/>
        </p:spPr>
        <p:txBody>
          <a:bodyPr wrap="square" lIns="0" tIns="0" rIns="0" bIns="0" rtlCol="0" anchor="ctr"/>
          <a:lstStyle/>
          <a:p>
            <a:pPr algn="r" indent="0" marL="0">
              <a:buNone/>
            </a:pPr>
            <a:r>
              <a:rPr lang="en-US" sz="750" spc="200" kern="0" dirty="0">
                <a:solidFill>
                  <a:srgbClr val="55534F"/>
                </a:solidFill>
                <a:latin typeface="Courier New" pitchFamily="34" charset="0"/>
                <a:ea typeface="Courier New" pitchFamily="34" charset="-122"/>
                <a:cs typeface="Courier New" pitchFamily="34" charset="-120"/>
              </a:rPr>
              <a:t>09 / 10</a:t>
            </a:r>
            <a:endParaRPr lang="en-US" sz="750" dirty="0"/>
          </a:p>
        </p:txBody>
      </p:sp>
      <p:sp>
        <p:nvSpPr>
          <p:cNvPr id="7" name="Text 5"/>
          <p:cNvSpPr txBox="1"/>
          <p:nvPr/>
        </p:nvSpPr>
        <p:spPr>
          <a:xfrm>
            <a:off x="8396935" y="566928"/>
            <a:ext cx="3108960" cy="2011680"/>
          </a:xfrm>
          <a:prstGeom prst="rect">
            <a:avLst/>
          </a:prstGeom>
          <a:noFill/>
          <a:ln/>
        </p:spPr>
        <p:txBody>
          <a:bodyPr wrap="square" lIns="0" tIns="0" rIns="0" bIns="0" rtlCol="0" anchor="ctr"/>
          <a:lstStyle/>
          <a:p>
            <a:pPr algn="r" indent="0" marL="0">
              <a:buNone/>
            </a:pPr>
            <a:r>
              <a:rPr lang="en-US" sz="12000" b="1" dirty="0">
                <a:ln w="15240">
                  <a:solidFill>
                    <a:srgbClr val="262524"/>
                  </a:solidFill>
                </a:ln>
                <a:solidFill>
                  <a:srgbClr val="0B0B0A"/>
                </a:solidFill>
                <a:latin typeface="Arial" pitchFamily="34" charset="0"/>
                <a:ea typeface="Arial" pitchFamily="34" charset="-122"/>
                <a:cs typeface="Arial" pitchFamily="34" charset="-120"/>
              </a:rPr>
              <a:t>08</a:t>
            </a:r>
            <a:endParaRPr lang="en-US" sz="12000" dirty="0"/>
          </a:p>
        </p:txBody>
      </p:sp>
      <p:sp>
        <p:nvSpPr>
          <p:cNvPr id="8" name="Text 6"/>
          <p:cNvSpPr txBox="1"/>
          <p:nvPr/>
        </p:nvSpPr>
        <p:spPr>
          <a:xfrm>
            <a:off x="685800" y="1234440"/>
            <a:ext cx="6400800" cy="320040"/>
          </a:xfrm>
          <a:prstGeom prst="rect">
            <a:avLst/>
          </a:prstGeom>
          <a:noFill/>
          <a:ln/>
        </p:spPr>
        <p:txBody>
          <a:bodyPr wrap="square" lIns="0" tIns="0" rIns="0" bIns="0" rtlCol="0" anchor="ctr"/>
          <a:lstStyle/>
          <a:p>
            <a:pPr indent="0" marL="0">
              <a:buNone/>
            </a:pPr>
            <a:r>
              <a:rPr lang="en-US" sz="1050" spc="400" kern="0" dirty="0">
                <a:solidFill>
                  <a:srgbClr val="55534F"/>
                </a:solidFill>
                <a:latin typeface="Courier New" pitchFamily="34" charset="0"/>
                <a:ea typeface="Courier New" pitchFamily="34" charset="-122"/>
                <a:cs typeface="Courier New" pitchFamily="34" charset="-120"/>
              </a:rPr>
              <a:t>// </a:t>
            </a:r>
            <a:pPr indent="0" marL="0">
              <a:buNone/>
            </a:pPr>
            <a:r>
              <a:rPr lang="en-US" sz="1050" spc="400" kern="0" dirty="0">
                <a:solidFill>
                  <a:srgbClr val="FF4D00"/>
                </a:solidFill>
                <a:latin typeface="Courier New" pitchFamily="34" charset="0"/>
                <a:ea typeface="Courier New" pitchFamily="34" charset="-122"/>
                <a:cs typeface="Courier New" pitchFamily="34" charset="-120"/>
              </a:rPr>
              <a:t>THE RECORD</a:t>
            </a:r>
            <a:endParaRPr lang="en-US" sz="1050" dirty="0"/>
          </a:p>
        </p:txBody>
      </p:sp>
      <p:sp>
        <p:nvSpPr>
          <p:cNvPr id="9" name="Text 7"/>
          <p:cNvSpPr txBox="1"/>
          <p:nvPr/>
        </p:nvSpPr>
        <p:spPr>
          <a:xfrm>
            <a:off x="685800" y="1645920"/>
            <a:ext cx="9601200" cy="2011680"/>
          </a:xfrm>
          <a:prstGeom prst="rect">
            <a:avLst/>
          </a:prstGeom>
          <a:noFill/>
          <a:ln/>
        </p:spPr>
        <p:txBody>
          <a:bodyPr wrap="square" lIns="0" tIns="0" rIns="0" bIns="0" rtlCol="0" anchor="ctr"/>
          <a:lstStyle/>
          <a:p>
            <a:pPr indent="0" marL="0">
              <a:lnSpc>
                <a:spcPct val="100000"/>
              </a:lnSpc>
              <a:buNone/>
            </a:pPr>
            <a:r>
              <a:rPr lang="en-US" sz="3600" b="1" spc="-100" kern="0" dirty="0">
                <a:solidFill>
                  <a:srgbClr val="EDEAE4"/>
                </a:solidFill>
                <a:latin typeface="Arial" pitchFamily="34" charset="0"/>
                <a:ea typeface="Arial" pitchFamily="34" charset="-122"/>
                <a:cs typeface="Arial" pitchFamily="34" charset="-120"/>
              </a:rPr>
              <a:t>The blackout leaves a record,</a:t>
            </a:r>
            <a:endParaRPr lang="en-US" sz="3600" dirty="0"/>
          </a:p>
          <a:p>
            <a:pPr indent="0" marL="0">
              <a:lnSpc>
                <a:spcPct val="100000"/>
              </a:lnSpc>
              <a:buNone/>
            </a:pPr>
            <a:r>
              <a:rPr lang="en-US" sz="3600" b="1" spc="-100" kern="0" dirty="0">
                <a:solidFill>
                  <a:srgbClr val="EDEAE4"/>
                </a:solidFill>
                <a:latin typeface="Arial" pitchFamily="34" charset="0"/>
                <a:ea typeface="Arial" pitchFamily="34" charset="-122"/>
                <a:cs typeface="Arial" pitchFamily="34" charset="-120"/>
              </a:rPr>
              <a:t>not a blind spot.</a:t>
            </a:r>
            <a:endParaRPr lang="en-US" sz="3600" dirty="0"/>
          </a:p>
        </p:txBody>
      </p:sp>
      <p:sp>
        <p:nvSpPr>
          <p:cNvPr id="10" name="Text 8"/>
          <p:cNvSpPr txBox="1"/>
          <p:nvPr/>
        </p:nvSpPr>
        <p:spPr>
          <a:xfrm>
            <a:off x="685800" y="3154680"/>
            <a:ext cx="6766560" cy="685800"/>
          </a:xfrm>
          <a:prstGeom prst="rect">
            <a:avLst/>
          </a:prstGeom>
          <a:noFill/>
          <a:ln/>
        </p:spPr>
        <p:txBody>
          <a:bodyPr wrap="square" lIns="0" tIns="0" rIns="0" bIns="0" rtlCol="0" anchor="ctr"/>
          <a:lstStyle/>
          <a:p>
            <a:pPr indent="0" marL="0">
              <a:lnSpc>
                <a:spcPct val="125000"/>
              </a:lnSpc>
              <a:buNone/>
            </a:pPr>
            <a:r>
              <a:rPr lang="en-US" sz="1250" dirty="0">
                <a:solidFill>
                  <a:srgbClr val="97948E"/>
                </a:solidFill>
                <a:latin typeface="Arial" pitchFamily="34" charset="0"/>
                <a:ea typeface="Arial" pitchFamily="34" charset="-122"/>
                <a:cs typeface="Arial" pitchFamily="34" charset="-120"/>
              </a:rPr>
              <a:t>When connectivity returns, verified cloud evidence </a:t>
            </a:r>
            <a:pPr indent="0" marL="0">
              <a:lnSpc>
                <a:spcPct val="125000"/>
              </a:lnSpc>
              <a:buNone/>
            </a:pPr>
            <a:r>
              <a:rPr lang="en-US" sz="1250" b="1" dirty="0">
                <a:solidFill>
                  <a:srgbClr val="EDEAE4"/>
                </a:solidFill>
                <a:latin typeface="Arial" pitchFamily="34" charset="0"/>
                <a:ea typeface="Arial" pitchFamily="34" charset="-122"/>
                <a:cs typeface="Arial" pitchFamily="34" charset="-120"/>
              </a:rPr>
              <a:t>appends</a:t>
            </a:r>
            <a:pPr indent="0" marL="0">
              <a:lnSpc>
                <a:spcPct val="125000"/>
              </a:lnSpc>
              <a:buNone/>
            </a:pPr>
            <a:r>
              <a:rPr lang="en-US" sz="1250" dirty="0">
                <a:solidFill>
                  <a:srgbClr val="97948E"/>
                </a:solidFill>
                <a:latin typeface="Arial" pitchFamily="34" charset="0"/>
                <a:ea typeface="Arial" pitchFamily="34" charset="-122"/>
                <a:cs typeface="Arial" pitchFamily="34" charset="-120"/>
              </a:rPr>
              <a:t> to the log. The original decision is never rewritten.</a:t>
            </a:r>
            <a:endParaRPr lang="en-US" sz="1250" dirty="0"/>
          </a:p>
        </p:txBody>
      </p:sp>
      <p:sp>
        <p:nvSpPr>
          <p:cNvPr id="11" name="Text 9"/>
          <p:cNvSpPr txBox="1"/>
          <p:nvPr/>
        </p:nvSpPr>
        <p:spPr>
          <a:xfrm>
            <a:off x="685800" y="4069080"/>
            <a:ext cx="5044288" cy="274320"/>
          </a:xfrm>
          <a:prstGeom prst="rect">
            <a:avLst/>
          </a:prstGeom>
          <a:noFill/>
          <a:ln/>
        </p:spPr>
        <p:txBody>
          <a:bodyPr wrap="square" lIns="0" tIns="0" rIns="0" bIns="0" rtlCol="0" anchor="ctr"/>
          <a:lstStyle/>
          <a:p>
            <a:pPr indent="0" marL="0">
              <a:buNone/>
            </a:pPr>
            <a:r>
              <a:rPr lang="en-US" sz="850" spc="400" kern="0" dirty="0">
                <a:solidFill>
                  <a:srgbClr val="97948E"/>
                </a:solidFill>
                <a:latin typeface="Courier New" pitchFamily="34" charset="0"/>
                <a:ea typeface="Courier New" pitchFamily="34" charset="-122"/>
                <a:cs typeface="Courier New" pitchFamily="34" charset="-120"/>
              </a:rPr>
              <a:t>RECORDED WHILE OFFLINE</a:t>
            </a:r>
            <a:endParaRPr lang="en-US" sz="850" dirty="0"/>
          </a:p>
        </p:txBody>
      </p:sp>
      <p:sp>
        <p:nvSpPr>
          <p:cNvPr id="12" name="Shape 10"/>
          <p:cNvSpPr/>
          <p:nvPr/>
        </p:nvSpPr>
        <p:spPr>
          <a:xfrm>
            <a:off x="685800" y="4370832"/>
            <a:ext cx="5044288" cy="10973"/>
          </a:xfrm>
          <a:prstGeom prst="rect">
            <a:avLst/>
          </a:prstGeom>
          <a:solidFill>
            <a:srgbClr val="232220"/>
          </a:solidFill>
          <a:ln/>
        </p:spPr>
      </p:sp>
      <p:sp>
        <p:nvSpPr>
          <p:cNvPr id="13" name="Text 11"/>
          <p:cNvSpPr txBox="1"/>
          <p:nvPr/>
        </p:nvSpPr>
        <p:spPr>
          <a:xfrm>
            <a:off x="685800" y="4480560"/>
            <a:ext cx="1371600" cy="292608"/>
          </a:xfrm>
          <a:prstGeom prst="rect">
            <a:avLst/>
          </a:prstGeom>
          <a:noFill/>
          <a:ln/>
        </p:spPr>
        <p:txBody>
          <a:bodyPr wrap="square" lIns="0" tIns="0" rIns="0" bIns="0" rtlCol="0" anchor="ctr"/>
          <a:lstStyle/>
          <a:p>
            <a:pPr indent="0" marL="0">
              <a:buNone/>
            </a:pPr>
            <a:r>
              <a:rPr lang="en-US" sz="950" dirty="0">
                <a:solidFill>
                  <a:srgbClr val="55534F"/>
                </a:solidFill>
                <a:latin typeface="Courier New" pitchFamily="34" charset="0"/>
                <a:ea typeface="Courier New" pitchFamily="34" charset="-122"/>
                <a:cs typeface="Courier New" pitchFamily="34" charset="-120"/>
              </a:rPr>
              <a:t>03:14:02</a:t>
            </a:r>
            <a:endParaRPr lang="en-US" sz="950" dirty="0"/>
          </a:p>
        </p:txBody>
      </p:sp>
      <p:sp>
        <p:nvSpPr>
          <p:cNvPr id="14" name="Text 12"/>
          <p:cNvSpPr txBox="1"/>
          <p:nvPr/>
        </p:nvSpPr>
        <p:spPr>
          <a:xfrm>
            <a:off x="2148840" y="4480560"/>
            <a:ext cx="3581248" cy="292608"/>
          </a:xfrm>
          <a:prstGeom prst="rect">
            <a:avLst/>
          </a:prstGeom>
          <a:noFill/>
          <a:ln/>
        </p:spPr>
        <p:txBody>
          <a:bodyPr wrap="square" lIns="0" tIns="0" rIns="0" bIns="0" rtlCol="0" anchor="ctr"/>
          <a:lstStyle/>
          <a:p>
            <a:pPr indent="0" marL="0">
              <a:buNone/>
            </a:pPr>
            <a:r>
              <a:rPr lang="en-US" sz="950" dirty="0">
                <a:solidFill>
                  <a:srgbClr val="97948E"/>
                </a:solidFill>
                <a:latin typeface="Courier New" pitchFamily="34" charset="0"/>
                <a:ea typeface="Courier New" pitchFamily="34" charset="-122"/>
                <a:cs typeface="Courier New" pitchFamily="34" charset="-120"/>
              </a:rPr>
              <a:t>link_lost</a:t>
            </a:r>
            <a:endParaRPr lang="en-US" sz="950" dirty="0"/>
          </a:p>
        </p:txBody>
      </p:sp>
      <p:sp>
        <p:nvSpPr>
          <p:cNvPr id="15" name="Shape 13"/>
          <p:cNvSpPr/>
          <p:nvPr/>
        </p:nvSpPr>
        <p:spPr>
          <a:xfrm>
            <a:off x="685800" y="4791456"/>
            <a:ext cx="5044288" cy="10973"/>
          </a:xfrm>
          <a:prstGeom prst="rect">
            <a:avLst/>
          </a:prstGeom>
          <a:solidFill>
            <a:srgbClr val="232220"/>
          </a:solidFill>
          <a:ln/>
        </p:spPr>
      </p:sp>
      <p:sp>
        <p:nvSpPr>
          <p:cNvPr id="16" name="Text 14"/>
          <p:cNvSpPr txBox="1"/>
          <p:nvPr/>
        </p:nvSpPr>
        <p:spPr>
          <a:xfrm>
            <a:off x="685800" y="4864608"/>
            <a:ext cx="1371600" cy="292608"/>
          </a:xfrm>
          <a:prstGeom prst="rect">
            <a:avLst/>
          </a:prstGeom>
          <a:noFill/>
          <a:ln/>
        </p:spPr>
        <p:txBody>
          <a:bodyPr wrap="square" lIns="0" tIns="0" rIns="0" bIns="0" rtlCol="0" anchor="ctr"/>
          <a:lstStyle/>
          <a:p>
            <a:pPr indent="0" marL="0">
              <a:buNone/>
            </a:pPr>
            <a:r>
              <a:rPr lang="en-US" sz="950" dirty="0">
                <a:solidFill>
                  <a:srgbClr val="55534F"/>
                </a:solidFill>
                <a:latin typeface="Courier New" pitchFamily="34" charset="0"/>
                <a:ea typeface="Courier New" pitchFamily="34" charset="-122"/>
                <a:cs typeface="Courier New" pitchFamily="34" charset="-120"/>
              </a:rPr>
              <a:t>03:15:40</a:t>
            </a:r>
            <a:endParaRPr lang="en-US" sz="950" dirty="0"/>
          </a:p>
        </p:txBody>
      </p:sp>
      <p:sp>
        <p:nvSpPr>
          <p:cNvPr id="17" name="Text 15"/>
          <p:cNvSpPr txBox="1"/>
          <p:nvPr/>
        </p:nvSpPr>
        <p:spPr>
          <a:xfrm>
            <a:off x="2148840" y="4864608"/>
            <a:ext cx="3581248" cy="292608"/>
          </a:xfrm>
          <a:prstGeom prst="rect">
            <a:avLst/>
          </a:prstGeom>
          <a:noFill/>
          <a:ln/>
        </p:spPr>
        <p:txBody>
          <a:bodyPr wrap="square" lIns="0" tIns="0" rIns="0" bIns="0" rtlCol="0" anchor="ctr"/>
          <a:lstStyle/>
          <a:p>
            <a:pPr indent="0" marL="0">
              <a:buNone/>
            </a:pPr>
            <a:r>
              <a:rPr lang="en-US" sz="950" dirty="0">
                <a:solidFill>
                  <a:srgbClr val="97948E"/>
                </a:solidFill>
                <a:latin typeface="Courier New" pitchFamily="34" charset="0"/>
                <a:ea typeface="Courier New" pitchFamily="34" charset="-122"/>
                <a:cs typeface="Courier New" pitchFamily="34" charset="-120"/>
              </a:rPr>
              <a:t>cooling-agent-01 x3, allow</a:t>
            </a:r>
            <a:endParaRPr lang="en-US" sz="950" dirty="0"/>
          </a:p>
        </p:txBody>
      </p:sp>
      <p:sp>
        <p:nvSpPr>
          <p:cNvPr id="18" name="Shape 16"/>
          <p:cNvSpPr/>
          <p:nvPr/>
        </p:nvSpPr>
        <p:spPr>
          <a:xfrm>
            <a:off x="685800" y="5175504"/>
            <a:ext cx="5044288" cy="10973"/>
          </a:xfrm>
          <a:prstGeom prst="rect">
            <a:avLst/>
          </a:prstGeom>
          <a:solidFill>
            <a:srgbClr val="232220"/>
          </a:solidFill>
          <a:ln/>
        </p:spPr>
      </p:sp>
      <p:sp>
        <p:nvSpPr>
          <p:cNvPr id="19" name="Text 17"/>
          <p:cNvSpPr txBox="1"/>
          <p:nvPr/>
        </p:nvSpPr>
        <p:spPr>
          <a:xfrm>
            <a:off x="685800" y="5248656"/>
            <a:ext cx="1371600" cy="292608"/>
          </a:xfrm>
          <a:prstGeom prst="rect">
            <a:avLst/>
          </a:prstGeom>
          <a:noFill/>
          <a:ln/>
        </p:spPr>
        <p:txBody>
          <a:bodyPr wrap="square" lIns="0" tIns="0" rIns="0" bIns="0" rtlCol="0" anchor="ctr"/>
          <a:lstStyle/>
          <a:p>
            <a:pPr indent="0" marL="0">
              <a:buNone/>
            </a:pPr>
            <a:r>
              <a:rPr lang="en-US" sz="950" dirty="0">
                <a:solidFill>
                  <a:srgbClr val="55534F"/>
                </a:solidFill>
                <a:latin typeface="Courier New" pitchFamily="34" charset="0"/>
                <a:ea typeface="Courier New" pitchFamily="34" charset="-122"/>
                <a:cs typeface="Courier New" pitchFamily="34" charset="-120"/>
              </a:rPr>
              <a:t>03:16:12</a:t>
            </a:r>
            <a:endParaRPr lang="en-US" sz="950" dirty="0"/>
          </a:p>
        </p:txBody>
      </p:sp>
      <p:sp>
        <p:nvSpPr>
          <p:cNvPr id="20" name="Text 18"/>
          <p:cNvSpPr txBox="1"/>
          <p:nvPr/>
        </p:nvSpPr>
        <p:spPr>
          <a:xfrm>
            <a:off x="2148840" y="5248656"/>
            <a:ext cx="3581248" cy="292608"/>
          </a:xfrm>
          <a:prstGeom prst="rect">
            <a:avLst/>
          </a:prstGeom>
          <a:noFill/>
          <a:ln/>
        </p:spPr>
        <p:txBody>
          <a:bodyPr wrap="square" lIns="0" tIns="0" rIns="0" bIns="0" rtlCol="0" anchor="ctr"/>
          <a:lstStyle/>
          <a:p>
            <a:pPr indent="0" marL="0">
              <a:buNone/>
            </a:pPr>
            <a:r>
              <a:rPr lang="en-US" sz="950" dirty="0">
                <a:solidFill>
                  <a:srgbClr val="97948E"/>
                </a:solidFill>
                <a:latin typeface="Courier New" pitchFamily="34" charset="0"/>
                <a:ea typeface="Courier New" pitchFamily="34" charset="-122"/>
                <a:cs typeface="Courier New" pitchFamily="34" charset="-120"/>
              </a:rPr>
              <a:t>power-agent-01, hold</a:t>
            </a:r>
            <a:endParaRPr lang="en-US" sz="950" dirty="0"/>
          </a:p>
        </p:txBody>
      </p:sp>
      <p:sp>
        <p:nvSpPr>
          <p:cNvPr id="21" name="Shape 19"/>
          <p:cNvSpPr/>
          <p:nvPr/>
        </p:nvSpPr>
        <p:spPr>
          <a:xfrm>
            <a:off x="685800" y="5559552"/>
            <a:ext cx="5044288" cy="10973"/>
          </a:xfrm>
          <a:prstGeom prst="rect">
            <a:avLst/>
          </a:prstGeom>
          <a:solidFill>
            <a:srgbClr val="232220"/>
          </a:solidFill>
          <a:ln/>
        </p:spPr>
      </p:sp>
      <p:sp>
        <p:nvSpPr>
          <p:cNvPr id="22" name="Text 20"/>
          <p:cNvSpPr txBox="1"/>
          <p:nvPr/>
        </p:nvSpPr>
        <p:spPr>
          <a:xfrm>
            <a:off x="685800" y="5632704"/>
            <a:ext cx="1371600" cy="292608"/>
          </a:xfrm>
          <a:prstGeom prst="rect">
            <a:avLst/>
          </a:prstGeom>
          <a:noFill/>
          <a:ln/>
        </p:spPr>
        <p:txBody>
          <a:bodyPr wrap="square" lIns="0" tIns="0" rIns="0" bIns="0" rtlCol="0" anchor="ctr"/>
          <a:lstStyle/>
          <a:p>
            <a:pPr indent="0" marL="0">
              <a:buNone/>
            </a:pPr>
            <a:r>
              <a:rPr lang="en-US" sz="950" dirty="0">
                <a:solidFill>
                  <a:srgbClr val="55534F"/>
                </a:solidFill>
                <a:latin typeface="Courier New" pitchFamily="34" charset="0"/>
                <a:ea typeface="Courier New" pitchFamily="34" charset="-122"/>
                <a:cs typeface="Courier New" pitchFamily="34" charset="-120"/>
              </a:rPr>
              <a:t>03:16:19</a:t>
            </a:r>
            <a:endParaRPr lang="en-US" sz="950" dirty="0"/>
          </a:p>
        </p:txBody>
      </p:sp>
      <p:sp>
        <p:nvSpPr>
          <p:cNvPr id="23" name="Text 21"/>
          <p:cNvSpPr txBox="1"/>
          <p:nvPr/>
        </p:nvSpPr>
        <p:spPr>
          <a:xfrm>
            <a:off x="2148840" y="5632704"/>
            <a:ext cx="3581248" cy="292608"/>
          </a:xfrm>
          <a:prstGeom prst="rect">
            <a:avLst/>
          </a:prstGeom>
          <a:noFill/>
          <a:ln/>
        </p:spPr>
        <p:txBody>
          <a:bodyPr wrap="square" lIns="0" tIns="0" rIns="0" bIns="0" rtlCol="0" anchor="ctr"/>
          <a:lstStyle/>
          <a:p>
            <a:pPr indent="0" marL="0">
              <a:buNone/>
            </a:pPr>
            <a:r>
              <a:rPr lang="en-US" sz="950" dirty="0">
                <a:solidFill>
                  <a:srgbClr val="97948E"/>
                </a:solidFill>
                <a:latin typeface="Courier New" pitchFamily="34" charset="0"/>
                <a:ea typeface="Courier New" pitchFamily="34" charset="-122"/>
                <a:cs typeface="Courier New" pitchFamily="34" charset="-120"/>
              </a:rPr>
              <a:t>technician: reject</a:t>
            </a:r>
            <a:endParaRPr lang="en-US" sz="950" dirty="0"/>
          </a:p>
        </p:txBody>
      </p:sp>
      <p:sp>
        <p:nvSpPr>
          <p:cNvPr id="24" name="Shape 22"/>
          <p:cNvSpPr/>
          <p:nvPr/>
        </p:nvSpPr>
        <p:spPr>
          <a:xfrm>
            <a:off x="685800" y="5943600"/>
            <a:ext cx="5044288" cy="10973"/>
          </a:xfrm>
          <a:prstGeom prst="rect">
            <a:avLst/>
          </a:prstGeom>
          <a:solidFill>
            <a:srgbClr val="232220"/>
          </a:solidFill>
          <a:ln/>
        </p:spPr>
      </p:sp>
      <p:sp>
        <p:nvSpPr>
          <p:cNvPr id="25" name="Text 23"/>
          <p:cNvSpPr txBox="1"/>
          <p:nvPr/>
        </p:nvSpPr>
        <p:spPr>
          <a:xfrm>
            <a:off x="6461608" y="4069080"/>
            <a:ext cx="5044288" cy="274320"/>
          </a:xfrm>
          <a:prstGeom prst="rect">
            <a:avLst/>
          </a:prstGeom>
          <a:noFill/>
          <a:ln/>
        </p:spPr>
        <p:txBody>
          <a:bodyPr wrap="square" lIns="0" tIns="0" rIns="0" bIns="0" rtlCol="0" anchor="ctr"/>
          <a:lstStyle/>
          <a:p>
            <a:pPr indent="0" marL="0">
              <a:buNone/>
            </a:pPr>
            <a:r>
              <a:rPr lang="en-US" sz="850" spc="400" kern="0" dirty="0">
                <a:solidFill>
                  <a:srgbClr val="FF4D00"/>
                </a:solidFill>
                <a:latin typeface="Courier New" pitchFamily="34" charset="0"/>
                <a:ea typeface="Courier New" pitchFamily="34" charset="-122"/>
                <a:cs typeface="Courier New" pitchFamily="34" charset="-120"/>
              </a:rPr>
              <a:t>APPENDED ON RECONNECT</a:t>
            </a:r>
            <a:endParaRPr lang="en-US" sz="850" dirty="0"/>
          </a:p>
        </p:txBody>
      </p:sp>
      <p:sp>
        <p:nvSpPr>
          <p:cNvPr id="26" name="Shape 24"/>
          <p:cNvSpPr/>
          <p:nvPr/>
        </p:nvSpPr>
        <p:spPr>
          <a:xfrm>
            <a:off x="6461608" y="4370832"/>
            <a:ext cx="5044288" cy="10973"/>
          </a:xfrm>
          <a:prstGeom prst="rect">
            <a:avLst/>
          </a:prstGeom>
          <a:solidFill>
            <a:srgbClr val="232220"/>
          </a:solidFill>
          <a:ln/>
        </p:spPr>
      </p:sp>
      <p:sp>
        <p:nvSpPr>
          <p:cNvPr id="27" name="Text 25"/>
          <p:cNvSpPr txBox="1"/>
          <p:nvPr/>
        </p:nvSpPr>
        <p:spPr>
          <a:xfrm>
            <a:off x="6461608" y="4480560"/>
            <a:ext cx="1371600" cy="292608"/>
          </a:xfrm>
          <a:prstGeom prst="rect">
            <a:avLst/>
          </a:prstGeom>
          <a:noFill/>
          <a:ln/>
        </p:spPr>
        <p:txBody>
          <a:bodyPr wrap="square" lIns="0" tIns="0" rIns="0" bIns="0" rtlCol="0" anchor="ctr"/>
          <a:lstStyle/>
          <a:p>
            <a:pPr indent="0" marL="0">
              <a:buNone/>
            </a:pPr>
            <a:r>
              <a:rPr lang="en-US" sz="950" dirty="0">
                <a:solidFill>
                  <a:srgbClr val="FF4D00"/>
                </a:solidFill>
                <a:latin typeface="Courier New" pitchFamily="34" charset="0"/>
                <a:ea typeface="Courier New" pitchFamily="34" charset="-122"/>
                <a:cs typeface="Courier New" pitchFamily="34" charset="-120"/>
              </a:rPr>
              <a:t>03:22:10</a:t>
            </a:r>
            <a:endParaRPr lang="en-US" sz="950" dirty="0"/>
          </a:p>
        </p:txBody>
      </p:sp>
      <p:sp>
        <p:nvSpPr>
          <p:cNvPr id="28" name="Text 26"/>
          <p:cNvSpPr txBox="1"/>
          <p:nvPr/>
        </p:nvSpPr>
        <p:spPr>
          <a:xfrm>
            <a:off x="7924648" y="4480560"/>
            <a:ext cx="3581248" cy="292608"/>
          </a:xfrm>
          <a:prstGeom prst="rect">
            <a:avLst/>
          </a:prstGeom>
          <a:noFill/>
          <a:ln/>
        </p:spPr>
        <p:txBody>
          <a:bodyPr wrap="square" lIns="0" tIns="0" rIns="0" bIns="0" rtlCol="0" anchor="ctr"/>
          <a:lstStyle/>
          <a:p>
            <a:pPr indent="0" marL="0">
              <a:buNone/>
            </a:pPr>
            <a:r>
              <a:rPr lang="en-US" sz="950" dirty="0">
                <a:solidFill>
                  <a:srgbClr val="EDEAE4"/>
                </a:solidFill>
                <a:latin typeface="Courier New" pitchFamily="34" charset="0"/>
                <a:ea typeface="Courier New" pitchFamily="34" charset="-122"/>
                <a:cs typeface="Courier New" pitchFamily="34" charset="-120"/>
              </a:rPr>
              <a:t>link_restored</a:t>
            </a:r>
            <a:endParaRPr lang="en-US" sz="950" dirty="0"/>
          </a:p>
        </p:txBody>
      </p:sp>
      <p:sp>
        <p:nvSpPr>
          <p:cNvPr id="29" name="Shape 27"/>
          <p:cNvSpPr/>
          <p:nvPr/>
        </p:nvSpPr>
        <p:spPr>
          <a:xfrm>
            <a:off x="6461608" y="4791456"/>
            <a:ext cx="5044288" cy="10973"/>
          </a:xfrm>
          <a:prstGeom prst="rect">
            <a:avLst/>
          </a:prstGeom>
          <a:solidFill>
            <a:srgbClr val="232220"/>
          </a:solidFill>
          <a:ln/>
        </p:spPr>
      </p:sp>
      <p:sp>
        <p:nvSpPr>
          <p:cNvPr id="30" name="Text 28"/>
          <p:cNvSpPr txBox="1"/>
          <p:nvPr/>
        </p:nvSpPr>
        <p:spPr>
          <a:xfrm>
            <a:off x="6461608" y="4864608"/>
            <a:ext cx="1371600" cy="292608"/>
          </a:xfrm>
          <a:prstGeom prst="rect">
            <a:avLst/>
          </a:prstGeom>
          <a:noFill/>
          <a:ln/>
        </p:spPr>
        <p:txBody>
          <a:bodyPr wrap="square" lIns="0" tIns="0" rIns="0" bIns="0" rtlCol="0" anchor="ctr"/>
          <a:lstStyle/>
          <a:p>
            <a:pPr indent="0" marL="0">
              <a:buNone/>
            </a:pPr>
            <a:r>
              <a:rPr lang="en-US" sz="950" dirty="0">
                <a:solidFill>
                  <a:srgbClr val="FF4D00"/>
                </a:solidFill>
                <a:latin typeface="Courier New" pitchFamily="34" charset="0"/>
                <a:ea typeface="Courier New" pitchFamily="34" charset="-122"/>
                <a:cs typeface="Courier New" pitchFamily="34" charset="-120"/>
              </a:rPr>
              <a:t>03:22:11</a:t>
            </a:r>
            <a:endParaRPr lang="en-US" sz="950" dirty="0"/>
          </a:p>
        </p:txBody>
      </p:sp>
      <p:sp>
        <p:nvSpPr>
          <p:cNvPr id="31" name="Text 29"/>
          <p:cNvSpPr txBox="1"/>
          <p:nvPr/>
        </p:nvSpPr>
        <p:spPr>
          <a:xfrm>
            <a:off x="7924648" y="4864608"/>
            <a:ext cx="3581248" cy="292608"/>
          </a:xfrm>
          <a:prstGeom prst="rect">
            <a:avLst/>
          </a:prstGeom>
          <a:noFill/>
          <a:ln/>
        </p:spPr>
        <p:txBody>
          <a:bodyPr wrap="square" lIns="0" tIns="0" rIns="0" bIns="0" rtlCol="0" anchor="ctr"/>
          <a:lstStyle/>
          <a:p>
            <a:pPr indent="0" marL="0">
              <a:buNone/>
            </a:pPr>
            <a:r>
              <a:rPr lang="en-US" sz="950" dirty="0">
                <a:solidFill>
                  <a:srgbClr val="EDEAE4"/>
                </a:solidFill>
                <a:latin typeface="Courier New" pitchFamily="34" charset="0"/>
                <a:ea typeface="Courier New" pitchFamily="34" charset="-122"/>
                <a:cs typeface="Courier New" pitchFamily="34" charset="-120"/>
              </a:rPr>
              <a:t>evidence reconciled</a:t>
            </a:r>
            <a:endParaRPr lang="en-US" sz="950" dirty="0"/>
          </a:p>
        </p:txBody>
      </p:sp>
      <p:sp>
        <p:nvSpPr>
          <p:cNvPr id="32" name="Shape 30"/>
          <p:cNvSpPr/>
          <p:nvPr/>
        </p:nvSpPr>
        <p:spPr>
          <a:xfrm>
            <a:off x="6461608" y="5175504"/>
            <a:ext cx="5044288" cy="10973"/>
          </a:xfrm>
          <a:prstGeom prst="rect">
            <a:avLst/>
          </a:prstGeom>
          <a:solidFill>
            <a:srgbClr val="232220"/>
          </a:solidFill>
          <a:ln/>
        </p:spPr>
      </p:sp>
      <p:sp>
        <p:nvSpPr>
          <p:cNvPr id="33" name="Text 31"/>
          <p:cNvSpPr txBox="1"/>
          <p:nvPr/>
        </p:nvSpPr>
        <p:spPr>
          <a:xfrm>
            <a:off x="6461608" y="5248656"/>
            <a:ext cx="1371600" cy="292608"/>
          </a:xfrm>
          <a:prstGeom prst="rect">
            <a:avLst/>
          </a:prstGeom>
          <a:noFill/>
          <a:ln/>
        </p:spPr>
        <p:txBody>
          <a:bodyPr wrap="square" lIns="0" tIns="0" rIns="0" bIns="0" rtlCol="0" anchor="ctr"/>
          <a:lstStyle/>
          <a:p>
            <a:pPr indent="0" marL="0">
              <a:buNone/>
            </a:pPr>
            <a:r>
              <a:rPr lang="en-US" sz="950" dirty="0">
                <a:solidFill>
                  <a:srgbClr val="FF4D00"/>
                </a:solidFill>
                <a:latin typeface="Courier New" pitchFamily="34" charset="0"/>
                <a:ea typeface="Courier New" pitchFamily="34" charset="-122"/>
                <a:cs typeface="Courier New" pitchFamily="34" charset="-120"/>
              </a:rPr>
              <a:t>--:--</a:t>
            </a:r>
            <a:endParaRPr lang="en-US" sz="950" dirty="0"/>
          </a:p>
        </p:txBody>
      </p:sp>
      <p:sp>
        <p:nvSpPr>
          <p:cNvPr id="34" name="Text 32"/>
          <p:cNvSpPr txBox="1"/>
          <p:nvPr/>
        </p:nvSpPr>
        <p:spPr>
          <a:xfrm>
            <a:off x="7924648" y="5248656"/>
            <a:ext cx="3581248" cy="292608"/>
          </a:xfrm>
          <a:prstGeom prst="rect">
            <a:avLst/>
          </a:prstGeom>
          <a:noFill/>
          <a:ln/>
        </p:spPr>
        <p:txBody>
          <a:bodyPr wrap="square" lIns="0" tIns="0" rIns="0" bIns="0" rtlCol="0" anchor="ctr"/>
          <a:lstStyle/>
          <a:p>
            <a:pPr indent="0" marL="0">
              <a:buNone/>
            </a:pPr>
            <a:r>
              <a:rPr lang="en-US" sz="950" dirty="0">
                <a:solidFill>
                  <a:srgbClr val="EDEAE4"/>
                </a:solidFill>
                <a:latin typeface="Courier New" pitchFamily="34" charset="0"/>
                <a:ea typeface="Courier New" pitchFamily="34" charset="-122"/>
                <a:cs typeface="Courier New" pitchFamily="34" charset="-120"/>
              </a:rPr>
              <a:t>original decisions unchanged</a:t>
            </a:r>
            <a:endParaRPr lang="en-US" sz="950" dirty="0"/>
          </a:p>
        </p:txBody>
      </p:sp>
      <p:sp>
        <p:nvSpPr>
          <p:cNvPr id="35" name="Shape 33"/>
          <p:cNvSpPr/>
          <p:nvPr/>
        </p:nvSpPr>
        <p:spPr>
          <a:xfrm>
            <a:off x="6461608" y="5559552"/>
            <a:ext cx="5044288" cy="10973"/>
          </a:xfrm>
          <a:prstGeom prst="rect">
            <a:avLst/>
          </a:prstGeom>
          <a:solidFill>
            <a:srgbClr val="232220"/>
          </a:solidFill>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685800" y="292608"/>
            <a:ext cx="5029200" cy="274320"/>
          </a:xfrm>
          <a:prstGeom prst="rect">
            <a:avLst/>
          </a:prstGeom>
          <a:noFill/>
          <a:ln/>
        </p:spPr>
        <p:txBody>
          <a:bodyPr wrap="square" lIns="0" tIns="0" rIns="0" bIns="0" rtlCol="0" anchor="ctr"/>
          <a:lstStyle/>
          <a:p>
            <a:pPr indent="0" marL="0">
              <a:buNone/>
            </a:pPr>
            <a:r>
              <a:rPr lang="en-US" sz="850" spc="200" kern="0" dirty="0">
                <a:solidFill>
                  <a:srgbClr val="55534F"/>
                </a:solidFill>
                <a:latin typeface="Courier New" pitchFamily="34" charset="0"/>
                <a:ea typeface="Courier New" pitchFamily="34" charset="-122"/>
                <a:cs typeface="Courier New" pitchFamily="34" charset="-120"/>
              </a:rPr>
              <a:t>DN HACKS '26  /  DEFENSE TRACK</a:t>
            </a:r>
            <a:endParaRPr lang="en-US" sz="850" dirty="0"/>
          </a:p>
        </p:txBody>
      </p:sp>
      <p:sp>
        <p:nvSpPr>
          <p:cNvPr id="3" name="Text 1"/>
          <p:cNvSpPr txBox="1"/>
          <p:nvPr/>
        </p:nvSpPr>
        <p:spPr>
          <a:xfrm>
            <a:off x="7848295" y="292608"/>
            <a:ext cx="3657600" cy="274320"/>
          </a:xfrm>
          <a:prstGeom prst="rect">
            <a:avLst/>
          </a:prstGeom>
          <a:noFill/>
          <a:ln/>
        </p:spPr>
        <p:txBody>
          <a:bodyPr wrap="square" lIns="0" tIns="0" rIns="0" bIns="0" rtlCol="0" anchor="ctr"/>
          <a:lstStyle/>
          <a:p>
            <a:pPr algn="r" indent="0" marL="0">
              <a:buNone/>
            </a:pPr>
            <a:r>
              <a:rPr lang="en-US" sz="850" spc="200" kern="0" dirty="0">
                <a:solidFill>
                  <a:srgbClr val="55534F"/>
                </a:solidFill>
                <a:latin typeface="Courier New" pitchFamily="34" charset="0"/>
                <a:ea typeface="Courier New" pitchFamily="34" charset="-122"/>
                <a:cs typeface="Courier New" pitchFamily="34" charset="-120"/>
              </a:rPr>
              <a:t>ALICE / DCAMR</a:t>
            </a:r>
            <a:endParaRPr lang="en-US" sz="850" dirty="0"/>
          </a:p>
        </p:txBody>
      </p:sp>
      <p:sp>
        <p:nvSpPr>
          <p:cNvPr id="4" name="Shape 2"/>
          <p:cNvSpPr/>
          <p:nvPr/>
        </p:nvSpPr>
        <p:spPr>
          <a:xfrm>
            <a:off x="685800" y="6382512"/>
            <a:ext cx="10820095" cy="10973"/>
          </a:xfrm>
          <a:prstGeom prst="rect">
            <a:avLst/>
          </a:prstGeom>
          <a:solidFill>
            <a:srgbClr val="232220"/>
          </a:solidFill>
          <a:ln/>
        </p:spPr>
      </p:sp>
      <p:sp>
        <p:nvSpPr>
          <p:cNvPr id="5" name="Text 3"/>
          <p:cNvSpPr txBox="1"/>
          <p:nvPr/>
        </p:nvSpPr>
        <p:spPr>
          <a:xfrm>
            <a:off x="685800" y="6473952"/>
            <a:ext cx="5486400" cy="274320"/>
          </a:xfrm>
          <a:prstGeom prst="rect">
            <a:avLst/>
          </a:prstGeom>
          <a:noFill/>
          <a:ln/>
        </p:spPr>
        <p:txBody>
          <a:bodyPr wrap="square" lIns="0" tIns="0" rIns="0" bIns="0" rtlCol="0" anchor="ctr"/>
          <a:lstStyle/>
          <a:p>
            <a:pPr indent="0" marL="0">
              <a:buNone/>
            </a:pPr>
            <a:r>
              <a:rPr lang="en-US" sz="750" spc="200" kern="0" dirty="0">
                <a:solidFill>
                  <a:srgbClr val="55534F"/>
                </a:solidFill>
                <a:latin typeface="Courier New" pitchFamily="34" charset="0"/>
                <a:ea typeface="Courier New" pitchFamily="34" charset="-122"/>
                <a:cs typeface="Courier New" pitchFamily="34" charset="-120"/>
              </a:rPr>
              <a:t>STATION DC  /  38.9072 N, 77.0369 W</a:t>
            </a:r>
            <a:endParaRPr lang="en-US" sz="750" dirty="0"/>
          </a:p>
        </p:txBody>
      </p:sp>
      <p:sp>
        <p:nvSpPr>
          <p:cNvPr id="6" name="Text 4"/>
          <p:cNvSpPr txBox="1"/>
          <p:nvPr/>
        </p:nvSpPr>
        <p:spPr>
          <a:xfrm>
            <a:off x="9677095" y="6473952"/>
            <a:ext cx="1828800" cy="274320"/>
          </a:xfrm>
          <a:prstGeom prst="rect">
            <a:avLst/>
          </a:prstGeom>
          <a:noFill/>
          <a:ln/>
        </p:spPr>
        <p:txBody>
          <a:bodyPr wrap="square" lIns="0" tIns="0" rIns="0" bIns="0" rtlCol="0" anchor="ctr"/>
          <a:lstStyle/>
          <a:p>
            <a:pPr algn="r" indent="0" marL="0">
              <a:buNone/>
            </a:pPr>
            <a:r>
              <a:rPr lang="en-US" sz="750" spc="200" kern="0" dirty="0">
                <a:solidFill>
                  <a:srgbClr val="55534F"/>
                </a:solidFill>
                <a:latin typeface="Courier New" pitchFamily="34" charset="0"/>
                <a:ea typeface="Courier New" pitchFamily="34" charset="-122"/>
                <a:cs typeface="Courier New" pitchFamily="34" charset="-120"/>
              </a:rPr>
              <a:t>10 / 10</a:t>
            </a:r>
            <a:endParaRPr lang="en-US" sz="750" dirty="0"/>
          </a:p>
        </p:txBody>
      </p:sp>
      <p:sp>
        <p:nvSpPr>
          <p:cNvPr id="7" name="Text 5"/>
          <p:cNvSpPr txBox="1"/>
          <p:nvPr/>
        </p:nvSpPr>
        <p:spPr>
          <a:xfrm>
            <a:off x="685800" y="1417320"/>
            <a:ext cx="6400800" cy="320040"/>
          </a:xfrm>
          <a:prstGeom prst="rect">
            <a:avLst/>
          </a:prstGeom>
          <a:noFill/>
          <a:ln/>
        </p:spPr>
        <p:txBody>
          <a:bodyPr wrap="square" lIns="0" tIns="0" rIns="0" bIns="0" rtlCol="0" anchor="ctr"/>
          <a:lstStyle/>
          <a:p>
            <a:pPr indent="0" marL="0">
              <a:buNone/>
            </a:pPr>
            <a:r>
              <a:rPr lang="en-US" sz="1050" spc="400" kern="0" dirty="0">
                <a:solidFill>
                  <a:srgbClr val="55534F"/>
                </a:solidFill>
                <a:latin typeface="Courier New" pitchFamily="34" charset="0"/>
                <a:ea typeface="Courier New" pitchFamily="34" charset="-122"/>
                <a:cs typeface="Courier New" pitchFamily="34" charset="-120"/>
              </a:rPr>
              <a:t>// </a:t>
            </a:r>
            <a:pPr indent="0" marL="0">
              <a:buNone/>
            </a:pPr>
            <a:r>
              <a:rPr lang="en-US" sz="1050" spc="400" kern="0" dirty="0">
                <a:solidFill>
                  <a:srgbClr val="FF4D00"/>
                </a:solidFill>
                <a:latin typeface="Courier New" pitchFamily="34" charset="0"/>
                <a:ea typeface="Courier New" pitchFamily="34" charset="-122"/>
                <a:cs typeface="Courier New" pitchFamily="34" charset="-120"/>
              </a:rPr>
              <a:t>WHY IT FITS</a:t>
            </a:r>
            <a:endParaRPr lang="en-US" sz="1050" dirty="0"/>
          </a:p>
        </p:txBody>
      </p:sp>
      <p:sp>
        <p:nvSpPr>
          <p:cNvPr id="8" name="Text 6"/>
          <p:cNvSpPr txBox="1"/>
          <p:nvPr/>
        </p:nvSpPr>
        <p:spPr>
          <a:xfrm>
            <a:off x="685800" y="1828800"/>
            <a:ext cx="9601200" cy="2011680"/>
          </a:xfrm>
          <a:prstGeom prst="rect">
            <a:avLst/>
          </a:prstGeom>
          <a:noFill/>
          <a:ln/>
        </p:spPr>
        <p:txBody>
          <a:bodyPr wrap="square" lIns="0" tIns="0" rIns="0" bIns="0" rtlCol="0" anchor="ctr"/>
          <a:lstStyle/>
          <a:p>
            <a:pPr indent="0" marL="0">
              <a:lnSpc>
                <a:spcPct val="100000"/>
              </a:lnSpc>
              <a:buNone/>
            </a:pPr>
            <a:r>
              <a:rPr lang="en-US" sz="4000" b="1" spc="-100" kern="0" dirty="0">
                <a:solidFill>
                  <a:srgbClr val="EDEAE4"/>
                </a:solidFill>
                <a:latin typeface="Arial" pitchFamily="34" charset="0"/>
                <a:ea typeface="Arial" pitchFamily="34" charset="-122"/>
                <a:cs typeface="Arial" pitchFamily="34" charset="-120"/>
              </a:rPr>
              <a:t>Built for the environment</a:t>
            </a:r>
            <a:endParaRPr lang="en-US" sz="4000" dirty="0"/>
          </a:p>
          <a:p>
            <a:pPr indent="0" marL="0">
              <a:lnSpc>
                <a:spcPct val="100000"/>
              </a:lnSpc>
              <a:buNone/>
            </a:pPr>
            <a:r>
              <a:rPr lang="en-US" sz="4000" b="1" spc="-100" kern="0" dirty="0">
                <a:solidFill>
                  <a:srgbClr val="EDEAE4"/>
                </a:solidFill>
                <a:latin typeface="Arial" pitchFamily="34" charset="0"/>
                <a:ea typeface="Arial" pitchFamily="34" charset="-122"/>
                <a:cs typeface="Arial" pitchFamily="34" charset="-120"/>
              </a:rPr>
              <a:t>defense actually operates in.</a:t>
            </a:r>
            <a:endParaRPr lang="en-US" sz="4000" dirty="0"/>
          </a:p>
        </p:txBody>
      </p:sp>
      <p:sp>
        <p:nvSpPr>
          <p:cNvPr id="9" name="Text 7"/>
          <p:cNvSpPr txBox="1"/>
          <p:nvPr/>
        </p:nvSpPr>
        <p:spPr>
          <a:xfrm>
            <a:off x="685800" y="3703320"/>
            <a:ext cx="6949440" cy="1188720"/>
          </a:xfrm>
          <a:prstGeom prst="rect">
            <a:avLst/>
          </a:prstGeom>
          <a:noFill/>
          <a:ln/>
        </p:spPr>
        <p:txBody>
          <a:bodyPr wrap="square" lIns="0" tIns="0" rIns="0" bIns="0" rtlCol="0" anchor="ctr"/>
          <a:lstStyle/>
          <a:p>
            <a:pPr indent="0" marL="0">
              <a:lnSpc>
                <a:spcPct val="125000"/>
              </a:lnSpc>
              <a:buNone/>
            </a:pPr>
            <a:r>
              <a:rPr lang="en-US" sz="1300" dirty="0">
                <a:solidFill>
                  <a:srgbClr val="97948E"/>
                </a:solidFill>
                <a:latin typeface="Arial" pitchFamily="34" charset="0"/>
                <a:ea typeface="Arial" pitchFamily="34" charset="-122"/>
                <a:cs typeface="Arial" pitchFamily="34" charset="-120"/>
              </a:rPr>
              <a:t>Second Front's Game Warden accredits containerized, offline-capable services. DCAMR is architected that way from the start: </a:t>
            </a:r>
            <a:pPr indent="0" marL="0">
              <a:lnSpc>
                <a:spcPct val="125000"/>
              </a:lnSpc>
              <a:buNone/>
            </a:pPr>
            <a:r>
              <a:rPr lang="en-US" sz="1300" b="1" dirty="0">
                <a:solidFill>
                  <a:srgbClr val="EDEAE4"/>
                </a:solidFill>
                <a:latin typeface="Arial" pitchFamily="34" charset="0"/>
                <a:ea typeface="Arial" pitchFamily="34" charset="-122"/>
                <a:cs typeface="Arial" pitchFamily="34" charset="-120"/>
              </a:rPr>
              <a:t>local-first, zero cloud dependency</a:t>
            </a:r>
            <a:pPr indent="0" marL="0">
              <a:lnSpc>
                <a:spcPct val="125000"/>
              </a:lnSpc>
              <a:buNone/>
            </a:pPr>
            <a:r>
              <a:rPr lang="en-US" sz="1300" dirty="0">
                <a:solidFill>
                  <a:srgbClr val="97948E"/>
                </a:solidFill>
                <a:latin typeface="Arial" pitchFamily="34" charset="0"/>
                <a:ea typeface="Arial" pitchFamily="34" charset="-122"/>
                <a:cs typeface="Arial" pitchFamily="34" charset="-120"/>
              </a:rPr>
              <a:t> in its core decision loop.</a:t>
            </a:r>
            <a:endParaRPr lang="en-US" sz="1300" dirty="0"/>
          </a:p>
        </p:txBody>
      </p:sp>
      <p:sp>
        <p:nvSpPr>
          <p:cNvPr id="10" name="Text 8"/>
          <p:cNvSpPr txBox="1"/>
          <p:nvPr/>
        </p:nvSpPr>
        <p:spPr>
          <a:xfrm>
            <a:off x="685800" y="5029200"/>
            <a:ext cx="3840480" cy="365760"/>
          </a:xfrm>
          <a:prstGeom prst="rect">
            <a:avLst/>
          </a:prstGeom>
          <a:noFill/>
          <a:ln/>
        </p:spPr>
        <p:txBody>
          <a:bodyPr wrap="square" lIns="0" tIns="0" rIns="0" bIns="0" rtlCol="0" anchor="ctr"/>
          <a:lstStyle/>
          <a:p>
            <a:pPr indent="0" marL="0">
              <a:buNone/>
            </a:pPr>
            <a:r>
              <a:rPr lang="en-US" sz="1200" b="1" spc="300" kern="0" dirty="0">
                <a:solidFill>
                  <a:srgbClr val="FF4D00"/>
                </a:solidFill>
                <a:latin typeface="Courier New" pitchFamily="34" charset="0"/>
                <a:ea typeface="Courier New" pitchFamily="34" charset="-122"/>
                <a:cs typeface="Courier New" pitchFamily="34" charset="-120"/>
              </a:rPr>
              <a:t>LIVE DEMO AT OUR TABLE</a:t>
            </a:r>
            <a:endParaRPr lang="en-US" sz="1200" dirty="0"/>
          </a:p>
        </p:txBody>
      </p:sp>
      <p:sp>
        <p:nvSpPr>
          <p:cNvPr id="11" name="Shape 9"/>
          <p:cNvSpPr/>
          <p:nvPr/>
        </p:nvSpPr>
        <p:spPr>
          <a:xfrm>
            <a:off x="685800" y="5413248"/>
            <a:ext cx="2697480" cy="14630"/>
          </a:xfrm>
          <a:prstGeom prst="rect">
            <a:avLst/>
          </a:prstGeom>
          <a:solidFill>
            <a:srgbClr val="FF4D00"/>
          </a:solidFill>
          <a:ln/>
        </p:spPr>
      </p:sp>
      <p:sp>
        <p:nvSpPr>
          <p:cNvPr id="12" name="Text 10"/>
          <p:cNvSpPr txBox="1"/>
          <p:nvPr/>
        </p:nvSpPr>
        <p:spPr>
          <a:xfrm>
            <a:off x="5120640" y="5047488"/>
            <a:ext cx="4937760" cy="320040"/>
          </a:xfrm>
          <a:prstGeom prst="rect">
            <a:avLst/>
          </a:prstGeom>
          <a:noFill/>
          <a:ln/>
        </p:spPr>
        <p:txBody>
          <a:bodyPr wrap="square" lIns="0" tIns="0" rIns="0" bIns="0" rtlCol="0" anchor="ctr"/>
          <a:lstStyle/>
          <a:p>
            <a:pPr indent="0" marL="0">
              <a:buNone/>
            </a:pPr>
            <a:r>
              <a:rPr lang="en-US" sz="1050" spc="200" kern="0" dirty="0">
                <a:solidFill>
                  <a:srgbClr val="97948E"/>
                </a:solidFill>
                <a:latin typeface="Courier New" pitchFamily="34" charset="0"/>
                <a:ea typeface="Courier New" pitchFamily="34" charset="-122"/>
                <a:cs typeface="Courier New" pitchFamily="34" charset="-120"/>
              </a:rPr>
              <a:t>allow / request_context / hold / deny</a:t>
            </a:r>
            <a:endParaRPr lang="en-US" sz="1050" dirty="0"/>
          </a:p>
        </p:txBody>
      </p:sp>
      <p:sp>
        <p:nvSpPr>
          <p:cNvPr id="13" name="Text 11"/>
          <p:cNvSpPr txBox="1"/>
          <p:nvPr/>
        </p:nvSpPr>
        <p:spPr>
          <a:xfrm>
            <a:off x="685800" y="5943600"/>
            <a:ext cx="8229600" cy="274320"/>
          </a:xfrm>
          <a:prstGeom prst="rect">
            <a:avLst/>
          </a:prstGeom>
          <a:noFill/>
          <a:ln/>
        </p:spPr>
        <p:txBody>
          <a:bodyPr wrap="square" lIns="0" tIns="0" rIns="0" bIns="0" rtlCol="0" anchor="ctr"/>
          <a:lstStyle/>
          <a:p>
            <a:pPr indent="0" marL="0">
              <a:buNone/>
            </a:pPr>
            <a:r>
              <a:rPr lang="en-US" sz="900" spc="100" kern="0" dirty="0">
                <a:solidFill>
                  <a:srgbClr val="55534F"/>
                </a:solidFill>
                <a:latin typeface="Courier New" pitchFamily="34" charset="0"/>
                <a:ea typeface="Courier New" pitchFamily="34" charset="-122"/>
                <a:cs typeface="Courier New" pitchFamily="34" charset="-120"/>
              </a:rPr>
              <a:t>Merek Soriano / Theo / Alex / Jared / Xavier</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2026-09-06T05:55:00Z</dcterms:created>
  <dcterms:modified xsi:type="dcterms:W3CDTF">2026-09-06T05:55:00Z</dcterms:modified>
</cp:coreProperties>
</file>